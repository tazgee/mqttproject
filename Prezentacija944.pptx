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8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81" r:id="rId23"/>
    <p:sldId id="276" r:id="rId24"/>
    <p:sldId id="277" r:id="rId25"/>
    <p:sldId id="278" r:id="rId26"/>
    <p:sldId id="279" r:id="rId27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390393-6EEF-4B83-D8BE-A171B0BBA894}" v="3" dt="2026-10-16T06:20:03.966"/>
    <p1510:client id="{C5EBBAB9-89C1-EEDF-7061-70109866E459}" v="102" dt="2026-10-16T07:43:38.1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sr-Latn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D21A4D6-50CD-4261-8069-AE7CDC074B44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tile tx="0" ty="0" sx="99987" sy="99986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sr-Latn-RS" sz="6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sr-R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sr-R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sr-R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71D482-9A20-4E08-B9D1-FBB49F011B4A}" type="slidenum">
              <a:rPr lang="sr-R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sr-Latn-RS" sz="20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sr-Latn-RS" sz="18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sr-Latn-RS" sz="18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sr-Latn-R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sr-Latn-R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sr-Latn-R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4"/>
          <p:cNvPicPr/>
          <p:nvPr/>
        </p:nvPicPr>
        <p:blipFill>
          <a:blip r:embed="rId2"/>
          <a:stretch/>
        </p:blipFill>
        <p:spPr>
          <a:xfrm>
            <a:off x="968760" y="0"/>
            <a:ext cx="12615120" cy="7095600"/>
          </a:xfrm>
          <a:prstGeom prst="rect">
            <a:avLst/>
          </a:prstGeom>
          <a:ln w="0">
            <a:noFill/>
          </a:ln>
        </p:spPr>
      </p:pic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968760" y="2119680"/>
            <a:ext cx="4893480" cy="130896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7000" b="0" strike="noStrike" spc="-1">
                <a:solidFill>
                  <a:srgbClr val="ED7D31"/>
                </a:solidFill>
                <a:latin typeface="Arial Black"/>
              </a:rPr>
              <a:t>RestAPI</a:t>
            </a:r>
            <a:endParaRPr lang="sr-Latn-RS" sz="7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Rectangle 5"/>
          <p:cNvSpPr/>
          <p:nvPr/>
        </p:nvSpPr>
        <p:spPr>
          <a:xfrm rot="1572000">
            <a:off x="-934560" y="-12070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Title 1"/>
          <p:cNvSpPr/>
          <p:nvPr/>
        </p:nvSpPr>
        <p:spPr>
          <a:xfrm>
            <a:off x="625324" y="3283560"/>
            <a:ext cx="5081519" cy="58428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b">
            <a:noAutofit/>
          </a:bodyPr>
          <a:lstStyle/>
          <a:p>
            <a:pPr algn="ctr" defTabSz="914400">
              <a:lnSpc>
                <a:spcPct val="90000"/>
              </a:lnSpc>
            </a:pPr>
            <a:r>
              <a:rPr lang="en-US" sz="3200" b="0" strike="noStrike" spc="-1" dirty="0">
                <a:solidFill>
                  <a:schemeClr val="lt1"/>
                </a:solidFill>
                <a:latin typeface="Arial Black"/>
              </a:rPr>
              <a:t>Backend </a:t>
            </a:r>
            <a:r>
              <a:rPr lang="en-US" sz="3200" b="0" strike="noStrike" spc="-1" dirty="0" err="1">
                <a:solidFill>
                  <a:schemeClr val="lt1"/>
                </a:solidFill>
                <a:latin typeface="Arial Black"/>
              </a:rPr>
              <a:t>Projekat</a:t>
            </a:r>
            <a:endParaRPr lang="en-US" sz="3200" b="0" strike="noStrike" spc="-1">
              <a:solidFill>
                <a:schemeClr val="lt1"/>
              </a:solidFill>
              <a:latin typeface="Arial"/>
              <a:cs typeface="Arial"/>
            </a:endParaRPr>
          </a:p>
        </p:txBody>
      </p:sp>
      <p:sp>
        <p:nvSpPr>
          <p:cNvPr id="70" name="Title 1"/>
          <p:cNvSpPr/>
          <p:nvPr/>
        </p:nvSpPr>
        <p:spPr>
          <a:xfrm>
            <a:off x="-31320" y="6552720"/>
            <a:ext cx="2253600" cy="27936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23329"/>
          </a:bodyPr>
          <a:lstStyle/>
          <a:p>
            <a:pPr algn="ctr" defTabSz="914400">
              <a:lnSpc>
                <a:spcPct val="90000"/>
              </a:lnSpc>
            </a:pPr>
            <a:r>
              <a:rPr lang="en-US" sz="6600" b="0" strike="noStrike" spc="-1">
                <a:solidFill>
                  <a:schemeClr val="accent3">
                    <a:lumMod val="60000"/>
                    <a:lumOff val="40000"/>
                  </a:schemeClr>
                </a:solidFill>
                <a:latin typeface="Arial Black"/>
              </a:rPr>
              <a:t>By Nikola Tasić</a:t>
            </a:r>
            <a:endParaRPr lang="en-US" sz="66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1" name="Picture 2" descr="INIT Technologies – Fairs PKS"/>
          <p:cNvPicPr/>
          <p:nvPr/>
        </p:nvPicPr>
        <p:blipFill>
          <a:blip r:embed="rId3"/>
          <a:stretch/>
        </p:blipFill>
        <p:spPr>
          <a:xfrm>
            <a:off x="286200" y="156600"/>
            <a:ext cx="2713680" cy="672120"/>
          </a:xfrm>
          <a:prstGeom prst="rect">
            <a:avLst/>
          </a:prstGeom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162080" y="204480"/>
            <a:ext cx="10775677" cy="1180172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rgbClr val="ED7D31"/>
                </a:solidFill>
                <a:latin typeface="Arial Black"/>
              </a:rPr>
              <a:t>O PROJEKTU</a:t>
            </a:r>
            <a:endParaRPr lang="sr-Latn-RS" sz="60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" name="Title 1"/>
          <p:cNvSpPr/>
          <p:nvPr/>
        </p:nvSpPr>
        <p:spPr>
          <a:xfrm>
            <a:off x="1724040" y="2347200"/>
            <a:ext cx="9791280" cy="470484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Šta je cilj projekta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Koje tehnologije su korišćene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Tok izrade projekta (ukratko)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74" name="Group 11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75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76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77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0" name="Picture 8" descr="Dotnet Logo PNG Transparent &amp; SVG Vector - Freebie Supply"/>
          <p:cNvPicPr/>
          <p:nvPr/>
        </p:nvPicPr>
        <p:blipFill>
          <a:blip r:embed="rId3"/>
          <a:stretch/>
        </p:blipFill>
        <p:spPr>
          <a:xfrm>
            <a:off x="2238480" y="4131000"/>
            <a:ext cx="734040" cy="699840"/>
          </a:xfrm>
          <a:prstGeom prst="rect">
            <a:avLst/>
          </a:prstGeom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</p:pic>
      <p:pic>
        <p:nvPicPr>
          <p:cNvPr id="81" name="Picture 10" descr="MQTT - Bindings | openHAB"/>
          <p:cNvPicPr/>
          <p:nvPr/>
        </p:nvPicPr>
        <p:blipFill>
          <a:blip r:embed="rId4"/>
          <a:stretch/>
        </p:blipFill>
        <p:spPr>
          <a:xfrm>
            <a:off x="3315240" y="4131000"/>
            <a:ext cx="822960" cy="744120"/>
          </a:xfrm>
          <a:prstGeom prst="rect">
            <a:avLst/>
          </a:prstGeom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</p:pic>
      <p:pic>
        <p:nvPicPr>
          <p:cNvPr id="82" name="Picture 12" descr="Docker - Free brands and logotypes icons"/>
          <p:cNvPicPr/>
          <p:nvPr/>
        </p:nvPicPr>
        <p:blipFill>
          <a:blip r:embed="rId5"/>
          <a:stretch/>
        </p:blipFill>
        <p:spPr>
          <a:xfrm>
            <a:off x="4513320" y="4131000"/>
            <a:ext cx="699840" cy="699840"/>
          </a:xfrm>
          <a:prstGeom prst="rect">
            <a:avLst/>
          </a:prstGeom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</p:pic>
      <p:pic>
        <p:nvPicPr>
          <p:cNvPr id="83" name="Picture 14" descr="MariaDB · GitHub"/>
          <p:cNvPicPr/>
          <p:nvPr/>
        </p:nvPicPr>
        <p:blipFill>
          <a:blip r:embed="rId6"/>
          <a:stretch/>
        </p:blipFill>
        <p:spPr>
          <a:xfrm>
            <a:off x="5587920" y="4091400"/>
            <a:ext cx="822960" cy="822960"/>
          </a:xfrm>
          <a:prstGeom prst="rect">
            <a:avLst/>
          </a:prstGeom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</p:pic>
      <p:pic>
        <p:nvPicPr>
          <p:cNvPr id="84" name="Picture 20" descr="How to install Redis configuration on HestiaCP – Ultratech Solution"/>
          <p:cNvPicPr/>
          <p:nvPr/>
        </p:nvPicPr>
        <p:blipFill>
          <a:blip r:embed="rId7"/>
          <a:stretch/>
        </p:blipFill>
        <p:spPr>
          <a:xfrm>
            <a:off x="6679800" y="4091400"/>
            <a:ext cx="928080" cy="783360"/>
          </a:xfrm>
          <a:prstGeom prst="rect">
            <a:avLst/>
          </a:prstGeom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</p:pic>
      <p:pic>
        <p:nvPicPr>
          <p:cNvPr id="85" name="Picture 22" descr="Download Free Information Icons in PNG &amp; SVG | Magnific (formerly Freepik)"/>
          <p:cNvPicPr/>
          <p:nvPr/>
        </p:nvPicPr>
        <p:blipFill>
          <a:blip r:embed="rId8"/>
          <a:stretch/>
        </p:blipFill>
        <p:spPr>
          <a:xfrm>
            <a:off x="10738800" y="5257800"/>
            <a:ext cx="1319400" cy="131940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  <p:pic>
        <p:nvPicPr>
          <p:cNvPr id="86" name="Picture 24" descr="Github Logo - Free social media icons"/>
          <p:cNvPicPr/>
          <p:nvPr/>
        </p:nvPicPr>
        <p:blipFill>
          <a:blip r:embed="rId9"/>
          <a:stretch/>
        </p:blipFill>
        <p:spPr>
          <a:xfrm>
            <a:off x="7828200" y="4075200"/>
            <a:ext cx="799920" cy="7999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300"/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300" fill="hold"/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300" fill="hold"/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" dur="3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7" dur="3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3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1" dur="3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2" dur="3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" dur="3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6" dur="3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7" dur="3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" dur="3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1" dur="3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2" dur="3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3" dur="3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6" dur="3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7" dur="3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" dur="3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1" dur="3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2" dur="3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3" dur="3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8" dur="300"/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9" dur="300" fill="hold"/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0" dur="300" fill="hold"/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2266920" y="161551"/>
            <a:ext cx="9670837" cy="1233833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rgbClr val="ED7D31"/>
                </a:solidFill>
                <a:latin typeface="Arial Black"/>
              </a:rPr>
              <a:t>MQTT PROTOKOL</a:t>
            </a:r>
            <a:endParaRPr lang="sr-Latn-RS" sz="60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8" name="Rectangle 5"/>
          <p:cNvSpPr/>
          <p:nvPr/>
        </p:nvSpPr>
        <p:spPr>
          <a:xfrm rot="1572000">
            <a:off x="-934560" y="-12070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Title 1"/>
          <p:cNvSpPr/>
          <p:nvPr/>
        </p:nvSpPr>
        <p:spPr>
          <a:xfrm>
            <a:off x="1857240" y="1600200"/>
            <a:ext cx="9791280" cy="470484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rmAutofit/>
          </a:bodyPr>
          <a:lstStyle/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 dirty="0">
                <a:solidFill>
                  <a:schemeClr val="lt1"/>
                </a:solidFill>
                <a:latin typeface="Arial Black"/>
              </a:rPr>
              <a:t>O </a:t>
            </a:r>
            <a:r>
              <a:rPr lang="en-US" sz="3600" b="0" strike="noStrike" spc="-1" dirty="0" err="1">
                <a:solidFill>
                  <a:schemeClr val="lt1"/>
                </a:solidFill>
                <a:latin typeface="Arial Black"/>
              </a:rPr>
              <a:t>protokolu</a:t>
            </a:r>
            <a:endParaRPr lang="en-US" sz="3600" b="0" strike="noStrike" spc="-1" dirty="0" err="1">
              <a:solidFill>
                <a:schemeClr val="lt1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 dirty="0" err="1">
                <a:solidFill>
                  <a:schemeClr val="lt1"/>
                </a:solidFill>
                <a:latin typeface="Arial Black"/>
              </a:rPr>
              <a:t>Šta</a:t>
            </a:r>
            <a:r>
              <a:rPr lang="en-US" sz="3600" b="0" strike="noStrike" spc="-1" dirty="0">
                <a:solidFill>
                  <a:schemeClr val="lt1"/>
                </a:solidFill>
                <a:latin typeface="Arial Black"/>
              </a:rPr>
              <a:t> </a:t>
            </a:r>
            <a:r>
              <a:rPr lang="en-US" sz="3600" b="0" strike="noStrike" spc="-1" dirty="0" err="1">
                <a:solidFill>
                  <a:schemeClr val="lt1"/>
                </a:solidFill>
                <a:latin typeface="Arial Black"/>
              </a:rPr>
              <a:t>sadrži</a:t>
            </a:r>
            <a:r>
              <a:rPr lang="en-US" sz="3600" b="0" strike="noStrike" spc="-1" dirty="0">
                <a:solidFill>
                  <a:schemeClr val="lt1"/>
                </a:solidFill>
                <a:latin typeface="Arial Black"/>
              </a:rPr>
              <a:t> </a:t>
            </a:r>
            <a:r>
              <a:rPr lang="en-US" sz="3600" spc="-1" dirty="0" err="1">
                <a:solidFill>
                  <a:schemeClr val="lt1"/>
                </a:solidFill>
                <a:latin typeface="Arial Black"/>
              </a:rPr>
              <a:t>protokol</a:t>
            </a:r>
            <a:endParaRPr lang="en-US" sz="3600" b="0" strike="noStrike" spc="-1" dirty="0" err="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 dirty="0" err="1">
                <a:solidFill>
                  <a:schemeClr val="lt1"/>
                </a:solidFill>
                <a:latin typeface="Arial Black"/>
              </a:rPr>
              <a:t>Objašnjenje</a:t>
            </a:r>
            <a:r>
              <a:rPr lang="en-US" sz="3600" b="0" strike="noStrike" spc="-1" dirty="0">
                <a:solidFill>
                  <a:schemeClr val="lt1"/>
                </a:solidFill>
                <a:latin typeface="Arial Black"/>
              </a:rPr>
              <a:t> </a:t>
            </a:r>
            <a:r>
              <a:rPr lang="en-US" sz="3600" b="0" strike="noStrike" spc="-1" dirty="0" err="1">
                <a:solidFill>
                  <a:schemeClr val="lt1"/>
                </a:solidFill>
                <a:latin typeface="Arial Black"/>
              </a:rPr>
              <a:t>pojmova</a:t>
            </a:r>
            <a:r>
              <a:rPr lang="en-US" sz="3600" b="0" strike="noStrike" spc="-1" dirty="0">
                <a:solidFill>
                  <a:schemeClr val="lt1"/>
                </a:solidFill>
                <a:latin typeface="Arial Black"/>
              </a:rPr>
              <a:t>:</a:t>
            </a:r>
            <a:endParaRPr lang="en-US" sz="3600" b="0" strike="noStrike" spc="-1" dirty="0">
              <a:solidFill>
                <a:schemeClr val="lt1"/>
              </a:solidFill>
              <a:latin typeface="Arial"/>
            </a:endParaRPr>
          </a:p>
        </p:txBody>
      </p:sp>
      <p:pic>
        <p:nvPicPr>
          <p:cNvPr id="90" name="Picture 2" descr="INIT Technologies – Fairs PKS"/>
          <p:cNvPicPr/>
          <p:nvPr/>
        </p:nvPicPr>
        <p:blipFill>
          <a:blip r:embed="rId2"/>
          <a:stretch/>
        </p:blipFill>
        <p:spPr>
          <a:xfrm>
            <a:off x="286200" y="156600"/>
            <a:ext cx="2713680" cy="672120"/>
          </a:xfrm>
          <a:prstGeom prst="rect">
            <a:avLst/>
          </a:prstGeom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</p:pic>
      <p:sp>
        <p:nvSpPr>
          <p:cNvPr id="91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4" name="Title 1"/>
          <p:cNvSpPr/>
          <p:nvPr/>
        </p:nvSpPr>
        <p:spPr>
          <a:xfrm>
            <a:off x="2474280" y="4168440"/>
            <a:ext cx="9791280" cy="470484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457200" indent="-457200" defTabSz="914400">
              <a:lnSpc>
                <a:spcPct val="10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000" b="0" strike="noStrike" spc="-1">
                <a:solidFill>
                  <a:schemeClr val="lt1"/>
                </a:solidFill>
                <a:latin typeface="Arial Black"/>
              </a:rPr>
              <a:t>Topic (kuca/soba/temperatura)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000" b="0" strike="noStrike" spc="-1">
                <a:solidFill>
                  <a:schemeClr val="lt1"/>
                </a:solidFill>
                <a:latin typeface="Arial Black"/>
              </a:rPr>
              <a:t>Wildcard (kuca/+/test ili kuca/#)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000" b="0" strike="noStrike" spc="-1">
                <a:solidFill>
                  <a:schemeClr val="lt1"/>
                </a:solidFill>
                <a:latin typeface="Arial Black"/>
              </a:rPr>
              <a:t>QoS 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000" b="0" strike="noStrike" spc="-1">
                <a:solidFill>
                  <a:schemeClr val="lt1"/>
                </a:solidFill>
                <a:latin typeface="Arial Black"/>
              </a:rPr>
              <a:t>Retain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5" name="Picture 10" descr="MQTT - Bindings | openHAB"/>
          <p:cNvPicPr/>
          <p:nvPr/>
        </p:nvPicPr>
        <p:blipFill>
          <a:blip r:embed="rId3"/>
          <a:stretch/>
        </p:blipFill>
        <p:spPr>
          <a:xfrm>
            <a:off x="10582560" y="5410080"/>
            <a:ext cx="1374840" cy="1243080"/>
          </a:xfrm>
          <a:prstGeom prst="rect">
            <a:avLst/>
          </a:prstGeom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300"/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300" fill="hold"/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300" fill="hold"/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" dur="300"/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7" dur="300" fill="hold"/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300" fill="hold"/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3" dur="3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4" dur="3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" dur="3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2486160" y="204480"/>
            <a:ext cx="9419400" cy="159552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800" b="0" strike="noStrike" spc="-1">
                <a:solidFill>
                  <a:srgbClr val="ED7D31"/>
                </a:solidFill>
                <a:latin typeface="Arial Black"/>
              </a:rPr>
              <a:t>IMPLEMENTACIJA MQTT U PROJEKTU</a:t>
            </a:r>
            <a:endParaRPr lang="sr-Latn-RS" sz="4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" name="Title 1"/>
          <p:cNvSpPr/>
          <p:nvPr/>
        </p:nvSpPr>
        <p:spPr>
          <a:xfrm>
            <a:off x="2033280" y="2897640"/>
            <a:ext cx="9791280" cy="470484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Početna implementacija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Implementacija u kasnijim projektima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98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99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100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101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3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4" name="Picture 2" descr="C sharp - Free ui icons"/>
          <p:cNvPicPr/>
          <p:nvPr/>
        </p:nvPicPr>
        <p:blipFill>
          <a:blip r:embed="rId3"/>
          <a:stretch/>
        </p:blipFill>
        <p:spPr>
          <a:xfrm>
            <a:off x="10663200" y="5372280"/>
            <a:ext cx="1281240" cy="128124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300"/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300" fill="hold"/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300" fill="hold"/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2228760" y="264240"/>
            <a:ext cx="9514800" cy="159552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800" b="0" strike="noStrike" spc="-1" dirty="0">
                <a:solidFill>
                  <a:srgbClr val="ED7D31"/>
                </a:solidFill>
                <a:latin typeface="Arial Black"/>
              </a:rPr>
              <a:t>PROJEKAT OD KOG JE SVE POČELO - </a:t>
            </a:r>
            <a:r>
              <a:rPr lang="en-US" sz="4800" b="0" strike="noStrike" spc="-1" dirty="0" err="1">
                <a:solidFill>
                  <a:srgbClr val="ED7D31"/>
                </a:solidFill>
                <a:latin typeface="Arial Black"/>
              </a:rPr>
              <a:t>ConsoleApp</a:t>
            </a:r>
            <a:endParaRPr lang="sr-Latn-RS" sz="4800" b="0" strike="noStrike" spc="-1" dirty="0" err="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Title 1"/>
          <p:cNvSpPr/>
          <p:nvPr/>
        </p:nvSpPr>
        <p:spPr>
          <a:xfrm>
            <a:off x="1504800" y="2905200"/>
            <a:ext cx="9791280" cy="470484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rmAutofit/>
          </a:bodyPr>
          <a:lstStyle/>
          <a:p>
            <a:pPr marL="457200" indent="-4572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 dirty="0" err="1">
                <a:solidFill>
                  <a:schemeClr val="lt1"/>
                </a:solidFill>
                <a:latin typeface="Arial Black"/>
              </a:rPr>
              <a:t>Šta</a:t>
            </a:r>
            <a:r>
              <a:rPr lang="en-US" sz="3600" b="0" strike="noStrike" spc="-1" dirty="0">
                <a:solidFill>
                  <a:schemeClr val="lt1"/>
                </a:solidFill>
                <a:latin typeface="Arial Black"/>
              </a:rPr>
              <a:t> je</a:t>
            </a:r>
            <a:r>
              <a:rPr lang="en-US" sz="3600" spc="-1" dirty="0">
                <a:solidFill>
                  <a:schemeClr val="lt1"/>
                </a:solidFill>
                <a:latin typeface="Arial Black"/>
              </a:rPr>
              <a:t> bio </a:t>
            </a:r>
            <a:r>
              <a:rPr lang="en-US" sz="3600" b="0" strike="noStrike" spc="-1" dirty="0" err="1">
                <a:solidFill>
                  <a:schemeClr val="lt1"/>
                </a:solidFill>
                <a:latin typeface="Arial Black"/>
              </a:rPr>
              <a:t>cilj</a:t>
            </a:r>
            <a:r>
              <a:rPr lang="en-US" sz="3600" b="0" strike="noStrike" spc="-1" dirty="0">
                <a:solidFill>
                  <a:schemeClr val="lt1"/>
                </a:solidFill>
                <a:latin typeface="Arial Black"/>
              </a:rPr>
              <a:t> </a:t>
            </a:r>
            <a:r>
              <a:rPr lang="en-US" sz="3600" b="0" strike="noStrike" spc="-1" dirty="0" err="1">
                <a:solidFill>
                  <a:schemeClr val="lt1"/>
                </a:solidFill>
                <a:latin typeface="Arial Black"/>
              </a:rPr>
              <a:t>prvog</a:t>
            </a:r>
            <a:r>
              <a:rPr lang="en-US" sz="3600" b="0" strike="noStrike" spc="-1" dirty="0">
                <a:solidFill>
                  <a:schemeClr val="lt1"/>
                </a:solidFill>
                <a:latin typeface="Arial Black"/>
              </a:rPr>
              <a:t> </a:t>
            </a:r>
            <a:r>
              <a:rPr lang="en-US" sz="3600" b="0" strike="noStrike" spc="-1" dirty="0" err="1">
                <a:solidFill>
                  <a:schemeClr val="lt1"/>
                </a:solidFill>
                <a:latin typeface="Arial Black"/>
              </a:rPr>
              <a:t>projekta</a:t>
            </a:r>
            <a:endParaRPr lang="en-US" sz="3600" b="0" strike="noStrike" spc="-1" dirty="0" err="1">
              <a:solidFill>
                <a:schemeClr val="lt1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 dirty="0">
                <a:solidFill>
                  <a:schemeClr val="lt1"/>
                </a:solidFill>
                <a:latin typeface="Arial Black"/>
              </a:rPr>
              <a:t>Kako je </a:t>
            </a:r>
            <a:r>
              <a:rPr lang="en-US" sz="3600" b="0" strike="noStrike" spc="-1" dirty="0" err="1">
                <a:solidFill>
                  <a:schemeClr val="lt1"/>
                </a:solidFill>
                <a:latin typeface="Arial Black"/>
              </a:rPr>
              <a:t>ostvaren</a:t>
            </a:r>
            <a:r>
              <a:rPr lang="en-US" sz="3600" b="0" strike="noStrike" spc="-1" dirty="0">
                <a:solidFill>
                  <a:schemeClr val="lt1"/>
                </a:solidFill>
                <a:latin typeface="Arial Black"/>
              </a:rPr>
              <a:t> </a:t>
            </a:r>
            <a:r>
              <a:rPr lang="en-US" sz="3600" b="0" strike="noStrike" spc="-1" dirty="0" err="1">
                <a:solidFill>
                  <a:schemeClr val="lt1"/>
                </a:solidFill>
                <a:latin typeface="Arial Black"/>
              </a:rPr>
              <a:t>cilj</a:t>
            </a:r>
            <a:r>
              <a:rPr lang="en-US" sz="3600" b="0" strike="noStrike" spc="-1" dirty="0">
                <a:solidFill>
                  <a:schemeClr val="lt1"/>
                </a:solidFill>
                <a:latin typeface="Arial Black"/>
              </a:rPr>
              <a:t> </a:t>
            </a:r>
            <a:r>
              <a:rPr lang="en-US" sz="3600" b="0" strike="noStrike" spc="-1" dirty="0" err="1">
                <a:solidFill>
                  <a:schemeClr val="lt1"/>
                </a:solidFill>
                <a:latin typeface="Arial Black"/>
              </a:rPr>
              <a:t>projekta</a:t>
            </a:r>
            <a:endParaRPr lang="en-US" sz="3600" b="0" strike="noStrike" spc="-1" dirty="0" err="1">
              <a:solidFill>
                <a:schemeClr val="lt1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 dirty="0" err="1">
                <a:solidFill>
                  <a:schemeClr val="lt1"/>
                </a:solidFill>
                <a:latin typeface="Arial Black"/>
              </a:rPr>
              <a:t>Funkcionalnosti</a:t>
            </a:r>
            <a:r>
              <a:rPr lang="en-US" sz="3600" b="0" strike="noStrike" spc="-1" dirty="0">
                <a:solidFill>
                  <a:schemeClr val="lt1"/>
                </a:solidFill>
                <a:latin typeface="Arial Black"/>
              </a:rPr>
              <a:t> </a:t>
            </a:r>
            <a:r>
              <a:rPr lang="en-US" sz="3600" b="0" strike="noStrike" spc="-1" dirty="0" err="1">
                <a:solidFill>
                  <a:schemeClr val="lt1"/>
                </a:solidFill>
                <a:latin typeface="Arial Black"/>
              </a:rPr>
              <a:t>projekta</a:t>
            </a:r>
            <a:endParaRPr lang="en-US" sz="3600" b="0" strike="noStrike" spc="-1" dirty="0" err="1">
              <a:solidFill>
                <a:schemeClr val="lt1"/>
              </a:solidFill>
              <a:latin typeface="Arial"/>
            </a:endParaRPr>
          </a:p>
        </p:txBody>
      </p:sp>
      <p:grpSp>
        <p:nvGrpSpPr>
          <p:cNvPr id="107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108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109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110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2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3" name="Picture 2" descr="Compare Terminal.app vs. Windows Terminal - Terminal Trove"/>
          <p:cNvPicPr/>
          <p:nvPr/>
        </p:nvPicPr>
        <p:blipFill>
          <a:blip r:embed="rId3"/>
          <a:stretch/>
        </p:blipFill>
        <p:spPr>
          <a:xfrm>
            <a:off x="10485000" y="5353200"/>
            <a:ext cx="1504440" cy="150444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300"/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300" fill="hold"/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300" fill="hold"/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" dur="300"/>
                                        <p:tgtEl>
                                          <p:spTgt spid="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7" dur="300" fill="hold"/>
                                        <p:tgtEl>
                                          <p:spTgt spid="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300" fill="hold"/>
                                        <p:tgtEl>
                                          <p:spTgt spid="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51B3B-7DB6-A539-94F3-8696EDD0C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>
            <a:extLst>
              <a:ext uri="{FF2B5EF4-FFF2-40B4-BE49-F238E27FC236}">
                <a16:creationId xmlns:a16="http://schemas.microsoft.com/office/drawing/2014/main" id="{03E4593F-030C-829E-D4F0-F0CC9BCDD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760" y="264240"/>
            <a:ext cx="9514800" cy="159552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800" b="0" strike="noStrike" spc="-1" dirty="0">
                <a:solidFill>
                  <a:srgbClr val="ED7D31"/>
                </a:solidFill>
                <a:latin typeface="Arial Black"/>
              </a:rPr>
              <a:t>PROJEKAT OD KOG JE SVE POČELO - </a:t>
            </a:r>
            <a:r>
              <a:rPr lang="en-US" sz="4800" b="0" strike="noStrike" spc="-1" dirty="0" err="1">
                <a:solidFill>
                  <a:srgbClr val="ED7D31"/>
                </a:solidFill>
                <a:latin typeface="Arial Black"/>
              </a:rPr>
              <a:t>ConsoleApp</a:t>
            </a:r>
            <a:endParaRPr lang="sr-Latn-RS" sz="4800" b="0" strike="noStrike" spc="-1" dirty="0" err="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107" name="Group 4">
            <a:extLst>
              <a:ext uri="{FF2B5EF4-FFF2-40B4-BE49-F238E27FC236}">
                <a16:creationId xmlns:a16="http://schemas.microsoft.com/office/drawing/2014/main" id="{3AA04E01-EB2C-43D0-FD95-9F2E645AC37D}"/>
              </a:ext>
            </a:extLst>
          </p:cNvPr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108" name="Rectangle 5">
              <a:extLst>
                <a:ext uri="{FF2B5EF4-FFF2-40B4-BE49-F238E27FC236}">
                  <a16:creationId xmlns:a16="http://schemas.microsoft.com/office/drawing/2014/main" id="{2C442FD7-389E-4567-8921-33E951434BD9}"/>
                </a:ext>
              </a:extLst>
            </p:cNvPr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109" name="Picture 2" descr="INIT Technologies – Fairs PKS">
              <a:extLst>
                <a:ext uri="{FF2B5EF4-FFF2-40B4-BE49-F238E27FC236}">
                  <a16:creationId xmlns:a16="http://schemas.microsoft.com/office/drawing/2014/main" id="{18F05171-5B0E-997D-D627-DB8EE88A56E2}"/>
                </a:ext>
              </a:extLst>
            </p:cNvPr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110" name="Rectangle 7">
            <a:extLst>
              <a:ext uri="{FF2B5EF4-FFF2-40B4-BE49-F238E27FC236}">
                <a16:creationId xmlns:a16="http://schemas.microsoft.com/office/drawing/2014/main" id="{ADABC823-4C73-D3A2-0BDC-83B3AF07F69D}"/>
              </a:ext>
            </a:extLst>
          </p:cNvPr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AutoShape 2">
            <a:extLst>
              <a:ext uri="{FF2B5EF4-FFF2-40B4-BE49-F238E27FC236}">
                <a16:creationId xmlns:a16="http://schemas.microsoft.com/office/drawing/2014/main" id="{8309D69A-B80B-5110-61EE-25702A9A0885}"/>
              </a:ext>
            </a:extLst>
          </p:cNvPr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2" name="AutoShape 4">
            <a:extLst>
              <a:ext uri="{FF2B5EF4-FFF2-40B4-BE49-F238E27FC236}">
                <a16:creationId xmlns:a16="http://schemas.microsoft.com/office/drawing/2014/main" id="{BCE750ED-86ED-797A-7AA5-56D480EA40BE}"/>
              </a:ext>
            </a:extLst>
          </p:cNvPr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3" name="Picture 2" descr="Compare Terminal.app vs. Windows Terminal - Terminal Trove">
            <a:extLst>
              <a:ext uri="{FF2B5EF4-FFF2-40B4-BE49-F238E27FC236}">
                <a16:creationId xmlns:a16="http://schemas.microsoft.com/office/drawing/2014/main" id="{E64F47EB-1BF0-96E4-4044-672A98BF3DF7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485000" y="5353200"/>
            <a:ext cx="1504440" cy="150444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4F4CAE8-4B42-BEA5-6AAD-7BEDA4218E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433" y="2206916"/>
            <a:ext cx="4062346" cy="390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09500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2409840" y="166320"/>
            <a:ext cx="9495720" cy="96084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5000" b="0" strike="noStrike" spc="-1">
                <a:solidFill>
                  <a:srgbClr val="ED7D31"/>
                </a:solidFill>
                <a:latin typeface="Arial Black"/>
              </a:rPr>
              <a:t>KORAK DALJE - BACKEND</a:t>
            </a:r>
            <a:endParaRPr lang="sr-Latn-RS" sz="5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5" name="Title 1"/>
          <p:cNvSpPr/>
          <p:nvPr/>
        </p:nvSpPr>
        <p:spPr>
          <a:xfrm>
            <a:off x="2929680" y="1164600"/>
            <a:ext cx="9791280" cy="96084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rmAutofit/>
          </a:bodyPr>
          <a:lstStyle/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spc="-1" dirty="0">
                <a:solidFill>
                  <a:schemeClr val="lt1"/>
                </a:solidFill>
                <a:latin typeface="Arial Black"/>
              </a:rPr>
              <a:t>ema</a:t>
            </a:r>
            <a:r>
              <a:rPr lang="en-US" sz="3600" b="0" strike="noStrike" spc="-1" dirty="0">
                <a:solidFill>
                  <a:schemeClr val="lt1"/>
                </a:solidFill>
                <a:latin typeface="Arial Black"/>
              </a:rPr>
              <a:t> </a:t>
            </a:r>
            <a:r>
              <a:rPr lang="en-US" sz="3600" b="0" strike="noStrike" spc="-1" dirty="0" err="1">
                <a:solidFill>
                  <a:schemeClr val="lt1"/>
                </a:solidFill>
                <a:latin typeface="Arial Black"/>
              </a:rPr>
              <a:t>komuikacije</a:t>
            </a:r>
            <a:endParaRPr lang="en-US" sz="3600" b="0" strike="noStrike" spc="-1" dirty="0" err="1">
              <a:solidFill>
                <a:schemeClr val="lt1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16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117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118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119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AutoShape 2"/>
          <p:cNvSpPr/>
          <p:nvPr/>
        </p:nvSpPr>
        <p:spPr>
          <a:xfrm>
            <a:off x="5210280" y="351648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1" name="AutoShape 4"/>
          <p:cNvSpPr/>
          <p:nvPr/>
        </p:nvSpPr>
        <p:spPr>
          <a:xfrm>
            <a:off x="5362560" y="36687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22" name="Picture 2" descr="Client - Free marketing icons"/>
          <p:cNvPicPr/>
          <p:nvPr/>
        </p:nvPicPr>
        <p:blipFill>
          <a:blip r:embed="rId3"/>
          <a:stretch/>
        </p:blipFill>
        <p:spPr>
          <a:xfrm>
            <a:off x="4849200" y="2365560"/>
            <a:ext cx="721800" cy="721800"/>
          </a:xfrm>
          <a:prstGeom prst="rect">
            <a:avLst/>
          </a:prstGeom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</p:pic>
      <p:pic>
        <p:nvPicPr>
          <p:cNvPr id="123" name="Picture 4" descr="Backend - Free seo and web icons"/>
          <p:cNvPicPr/>
          <p:nvPr/>
        </p:nvPicPr>
        <p:blipFill>
          <a:blip r:embed="rId4"/>
          <a:stretch/>
        </p:blipFill>
        <p:spPr>
          <a:xfrm>
            <a:off x="4820400" y="3736080"/>
            <a:ext cx="779400" cy="779400"/>
          </a:xfrm>
          <a:prstGeom prst="rect">
            <a:avLst/>
          </a:prstGeom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</p:pic>
      <p:pic>
        <p:nvPicPr>
          <p:cNvPr id="124" name="Picture 6" descr="Database - Free seo and web icons"/>
          <p:cNvPicPr/>
          <p:nvPr/>
        </p:nvPicPr>
        <p:blipFill>
          <a:blip r:embed="rId5"/>
          <a:stretch/>
        </p:blipFill>
        <p:spPr>
          <a:xfrm>
            <a:off x="7028280" y="3805560"/>
            <a:ext cx="640440" cy="640440"/>
          </a:xfrm>
          <a:prstGeom prst="rect">
            <a:avLst/>
          </a:prstGeom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</p:pic>
      <p:pic>
        <p:nvPicPr>
          <p:cNvPr id="125" name="Picture 20" descr="How to install Redis configuration on HestiaCP – Ultratech Solution"/>
          <p:cNvPicPr/>
          <p:nvPr/>
        </p:nvPicPr>
        <p:blipFill>
          <a:blip r:embed="rId6"/>
          <a:stretch/>
        </p:blipFill>
        <p:spPr>
          <a:xfrm>
            <a:off x="7028280" y="4887360"/>
            <a:ext cx="709560" cy="598680"/>
          </a:xfrm>
          <a:prstGeom prst="rect">
            <a:avLst/>
          </a:prstGeom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</p:pic>
      <p:pic>
        <p:nvPicPr>
          <p:cNvPr id="126" name="Picture 10" descr="MQTT - Bindings | openHAB"/>
          <p:cNvPicPr/>
          <p:nvPr/>
        </p:nvPicPr>
        <p:blipFill>
          <a:blip r:embed="rId7"/>
          <a:stretch/>
        </p:blipFill>
        <p:spPr>
          <a:xfrm>
            <a:off x="10582560" y="5410080"/>
            <a:ext cx="1374840" cy="1243080"/>
          </a:xfrm>
          <a:prstGeom prst="rect">
            <a:avLst/>
          </a:prstGeom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</p:pic>
      <p:pic>
        <p:nvPicPr>
          <p:cNvPr id="127" name="Picture 10" descr="MQTT - Bindings | openHAB"/>
          <p:cNvPicPr/>
          <p:nvPr/>
        </p:nvPicPr>
        <p:blipFill>
          <a:blip r:embed="rId7"/>
          <a:stretch/>
        </p:blipFill>
        <p:spPr>
          <a:xfrm>
            <a:off x="4800960" y="5344200"/>
            <a:ext cx="818280" cy="739800"/>
          </a:xfrm>
          <a:prstGeom prst="rect">
            <a:avLst/>
          </a:prstGeom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</p:pic>
      <p:pic>
        <p:nvPicPr>
          <p:cNvPr id="128" name="Picture 8" descr="Device - Free computer icons"/>
          <p:cNvPicPr/>
          <p:nvPr/>
        </p:nvPicPr>
        <p:blipFill>
          <a:blip r:embed="rId8"/>
          <a:stretch/>
        </p:blipFill>
        <p:spPr>
          <a:xfrm flipH="1">
            <a:off x="2726640" y="5169600"/>
            <a:ext cx="954720" cy="960840"/>
          </a:xfrm>
          <a:prstGeom prst="rect">
            <a:avLst/>
          </a:prstGeom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</p:pic>
      <p:cxnSp>
        <p:nvCxnSpPr>
          <p:cNvPr id="129" name="Straight Arrow Connector 9"/>
          <p:cNvCxnSpPr>
            <a:stCxn id="122" idx="2"/>
          </p:cNvCxnSpPr>
          <p:nvPr/>
        </p:nvCxnSpPr>
        <p:spPr>
          <a:xfrm>
            <a:off x="5209920" y="3087360"/>
            <a:ext cx="360" cy="791280"/>
          </a:xfrm>
          <a:prstGeom prst="straightConnector1">
            <a:avLst/>
          </a:prstGeom>
          <a:ln>
            <a:solidFill>
              <a:srgbClr val="ED7D31"/>
            </a:solidFill>
            <a:headEnd type="triangle" w="med" len="med"/>
            <a:tailEnd type="triangle" w="med" len="med"/>
          </a:ln>
        </p:spPr>
      </p:cxnSp>
      <p:cxnSp>
        <p:nvCxnSpPr>
          <p:cNvPr id="130" name="Straight Arrow Connector 18"/>
          <p:cNvCxnSpPr/>
          <p:nvPr/>
        </p:nvCxnSpPr>
        <p:spPr>
          <a:xfrm flipH="1">
            <a:off x="5514840" y="4125960"/>
            <a:ext cx="1577520" cy="360"/>
          </a:xfrm>
          <a:prstGeom prst="straightConnector1">
            <a:avLst/>
          </a:prstGeom>
          <a:ln>
            <a:solidFill>
              <a:srgbClr val="ED7D31"/>
            </a:solidFill>
            <a:headEnd type="triangle" w="med" len="med"/>
            <a:tailEnd type="triangle" w="med" len="med"/>
          </a:ln>
        </p:spPr>
      </p:cxnSp>
      <p:cxnSp>
        <p:nvCxnSpPr>
          <p:cNvPr id="131" name="Connector: Elbow 17"/>
          <p:cNvCxnSpPr>
            <a:endCxn id="125" idx="1"/>
          </p:cNvCxnSpPr>
          <p:nvPr/>
        </p:nvCxnSpPr>
        <p:spPr>
          <a:xfrm>
            <a:off x="6279840" y="4125960"/>
            <a:ext cx="748800" cy="1060920"/>
          </a:xfrm>
          <a:prstGeom prst="bentConnector3">
            <a:avLst>
              <a:gd name="adj1" fmla="val 48"/>
            </a:avLst>
          </a:prstGeom>
          <a:ln>
            <a:solidFill>
              <a:srgbClr val="ED7D31"/>
            </a:solidFill>
          </a:ln>
        </p:spPr>
      </p:cxnSp>
      <p:cxnSp>
        <p:nvCxnSpPr>
          <p:cNvPr id="132" name="Straight Arrow Connector 22"/>
          <p:cNvCxnSpPr/>
          <p:nvPr/>
        </p:nvCxnSpPr>
        <p:spPr>
          <a:xfrm>
            <a:off x="6279840" y="5186520"/>
            <a:ext cx="880920" cy="360"/>
          </a:xfrm>
          <a:prstGeom prst="straightConnector1">
            <a:avLst/>
          </a:prstGeom>
          <a:ln>
            <a:solidFill>
              <a:srgbClr val="ED7D31"/>
            </a:solidFill>
            <a:tailEnd type="triangle" w="med" len="med"/>
          </a:ln>
        </p:spPr>
      </p:cxnSp>
      <p:cxnSp>
        <p:nvCxnSpPr>
          <p:cNvPr id="133" name="Straight Arrow Connector 29"/>
          <p:cNvCxnSpPr>
            <a:endCxn id="127" idx="0"/>
          </p:cNvCxnSpPr>
          <p:nvPr/>
        </p:nvCxnSpPr>
        <p:spPr>
          <a:xfrm>
            <a:off x="5209920" y="4368600"/>
            <a:ext cx="360" cy="975960"/>
          </a:xfrm>
          <a:prstGeom prst="straightConnector1">
            <a:avLst/>
          </a:prstGeom>
          <a:ln>
            <a:solidFill>
              <a:srgbClr val="ED7D31"/>
            </a:solidFill>
            <a:headEnd type="triangle" w="med" len="med"/>
            <a:tailEnd type="triangle" w="med" len="med"/>
          </a:ln>
        </p:spPr>
      </p:cxnSp>
      <p:cxnSp>
        <p:nvCxnSpPr>
          <p:cNvPr id="134" name="Straight Arrow Connector 38"/>
          <p:cNvCxnSpPr/>
          <p:nvPr/>
        </p:nvCxnSpPr>
        <p:spPr>
          <a:xfrm>
            <a:off x="3681360" y="5657760"/>
            <a:ext cx="1310760" cy="360"/>
          </a:xfrm>
          <a:prstGeom prst="straightConnector1">
            <a:avLst/>
          </a:prstGeom>
          <a:ln>
            <a:solidFill>
              <a:srgbClr val="ED7D31"/>
            </a:solidFill>
            <a:headEnd type="triangl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3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3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3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4" dur="3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5" dur="3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3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9" dur="3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0" dur="3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" dur="3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4" dur="3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5" dur="3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" dur="3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9" dur="3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0" dur="3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1" dur="3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4" dur="3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5" dur="3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6" dur="3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9" dur="3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0" dur="3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1" dur="3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4" dur="3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5" dur="3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6" dur="3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9" dur="3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0" dur="3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1" dur="3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4" dur="3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5" dur="3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6" dur="3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9" dur="3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70" dur="3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1" dur="3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4" dur="3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75" dur="3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6" dur="3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9" dur="3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0" dur="3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1" dur="3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4" dur="3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5" dur="3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6" dur="3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2409840" y="166320"/>
            <a:ext cx="9495720" cy="96084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5000" b="0" strike="noStrike" spc="-1">
                <a:solidFill>
                  <a:srgbClr val="ED7D31"/>
                </a:solidFill>
                <a:latin typeface="Arial Black"/>
              </a:rPr>
              <a:t>KORAK DALJE - BACKEND</a:t>
            </a:r>
            <a:endParaRPr lang="sr-Latn-RS" sz="5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6" name="Title 1"/>
          <p:cNvSpPr/>
          <p:nvPr/>
        </p:nvSpPr>
        <p:spPr>
          <a:xfrm>
            <a:off x="1290960" y="2183040"/>
            <a:ext cx="9791280" cy="461160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Kako je komunikacija prvobitno implementirana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Ideje za dalji razvoj i približavanje izgledu realnog sistema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37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138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139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140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41" name="Picture 10" descr="MQTT - Bindings | openHAB"/>
          <p:cNvPicPr/>
          <p:nvPr/>
        </p:nvPicPr>
        <p:blipFill>
          <a:blip r:embed="rId3"/>
          <a:stretch/>
        </p:blipFill>
        <p:spPr>
          <a:xfrm>
            <a:off x="10582560" y="5410080"/>
            <a:ext cx="1374840" cy="1243080"/>
          </a:xfrm>
          <a:prstGeom prst="rect">
            <a:avLst/>
          </a:prstGeom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300"/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300" fill="hold"/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300" fill="hold"/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2495520" y="204480"/>
            <a:ext cx="9410040" cy="91944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5000" b="0" strike="noStrike" spc="-1">
                <a:solidFill>
                  <a:srgbClr val="ED7D31"/>
                </a:solidFill>
                <a:latin typeface="Arial Black"/>
              </a:rPr>
              <a:t>BAZA PODATAKA I REDIS</a:t>
            </a:r>
            <a:endParaRPr lang="sr-Latn-RS" sz="5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3" name="Title 1"/>
          <p:cNvSpPr/>
          <p:nvPr/>
        </p:nvSpPr>
        <p:spPr>
          <a:xfrm>
            <a:off x="1100160" y="2619360"/>
            <a:ext cx="10296000" cy="470484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200" b="0" strike="noStrike" spc="-1">
                <a:solidFill>
                  <a:schemeClr val="lt1"/>
                </a:solidFill>
                <a:latin typeface="Arial Black"/>
              </a:rPr>
              <a:t>Entity Framework i MariaDB baza podataka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200" b="0" strike="noStrike" spc="-1">
                <a:solidFill>
                  <a:schemeClr val="lt1"/>
                </a:solidFill>
                <a:latin typeface="Arial Black"/>
              </a:rPr>
              <a:t>Redis i njegova uloga u projektu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200" b="0" strike="noStrike" spc="-1">
                <a:solidFill>
                  <a:schemeClr val="lt1"/>
                </a:solidFill>
                <a:latin typeface="Arial Black"/>
              </a:rPr>
              <a:t>Statistika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200" b="0" strike="noStrike" spc="-1">
                <a:solidFill>
                  <a:schemeClr val="lt1"/>
                </a:solidFill>
                <a:latin typeface="Arial Black"/>
              </a:rPr>
              <a:t>Resubscribe to all nakon reconnecta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44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145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146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147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9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50" name="Picture 6" descr="Database - Free seo and web icons"/>
          <p:cNvPicPr/>
          <p:nvPr/>
        </p:nvPicPr>
        <p:blipFill>
          <a:blip r:embed="rId3"/>
          <a:stretch/>
        </p:blipFill>
        <p:spPr>
          <a:xfrm>
            <a:off x="10670760" y="5391000"/>
            <a:ext cx="1262160" cy="126216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300"/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300" fill="hold"/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300" fill="hold"/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" dur="300"/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7" dur="300" fill="hold"/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300" fill="hold"/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3" dur="300"/>
                                        <p:tgtEl>
                                          <p:spTgt spid="1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4" dur="300" fill="hold"/>
                                        <p:tgtEl>
                                          <p:spTgt spid="1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" dur="300" fill="hold"/>
                                        <p:tgtEl>
                                          <p:spTgt spid="1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2257560" y="204480"/>
            <a:ext cx="9648000" cy="97632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5400" b="0" strike="noStrike" spc="-1">
                <a:solidFill>
                  <a:srgbClr val="ED7D31"/>
                </a:solidFill>
                <a:latin typeface="Arial Black"/>
              </a:rPr>
              <a:t>LOGGING</a:t>
            </a:r>
            <a:endParaRPr lang="sr-Latn-RS" sz="5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2" name="Title 1"/>
          <p:cNvSpPr/>
          <p:nvPr/>
        </p:nvSpPr>
        <p:spPr>
          <a:xfrm>
            <a:off x="1571760" y="2152800"/>
            <a:ext cx="9791280" cy="470484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Šta je logging system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Zašto je bitan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Kako je logging implementira u projektu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53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154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155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156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8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59" name="Picture 2" descr="Logs - Free files and folders icons"/>
          <p:cNvPicPr/>
          <p:nvPr/>
        </p:nvPicPr>
        <p:blipFill>
          <a:blip r:embed="rId3"/>
          <a:stretch/>
        </p:blipFill>
        <p:spPr>
          <a:xfrm>
            <a:off x="10620360" y="5184360"/>
            <a:ext cx="1468800" cy="146880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300"/>
                                        <p:tgtEl>
                                          <p:spTgt spid="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300" fill="hold"/>
                                        <p:tgtEl>
                                          <p:spTgt spid="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300" fill="hold"/>
                                        <p:tgtEl>
                                          <p:spTgt spid="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" dur="300"/>
                                        <p:tgtEl>
                                          <p:spTgt spid="1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7" dur="300" fill="hold"/>
                                        <p:tgtEl>
                                          <p:spTgt spid="1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300" fill="hold"/>
                                        <p:tgtEl>
                                          <p:spTgt spid="1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2438280" y="204480"/>
            <a:ext cx="9466920" cy="97632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5400" b="0" strike="noStrike" spc="-1">
                <a:solidFill>
                  <a:srgbClr val="ED7D31"/>
                </a:solidFill>
                <a:latin typeface="Arial Black"/>
              </a:rPr>
              <a:t>DOCKERIZATION</a:t>
            </a:r>
            <a:endParaRPr lang="sr-Latn-RS" sz="5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1" name="Title 1"/>
          <p:cNvSpPr/>
          <p:nvPr/>
        </p:nvSpPr>
        <p:spPr>
          <a:xfrm>
            <a:off x="1537807" y="1594330"/>
            <a:ext cx="8553650" cy="470484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rmAutofit lnSpcReduction="10000"/>
          </a:bodyPr>
          <a:lstStyle/>
          <a:p>
            <a:pPr marL="457200" indent="-4572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 dirty="0" err="1">
                <a:solidFill>
                  <a:schemeClr val="lt1"/>
                </a:solidFill>
                <a:latin typeface="Arial Black"/>
              </a:rPr>
              <a:t>Šta</a:t>
            </a:r>
            <a:r>
              <a:rPr lang="en-US" sz="3600" b="0" strike="noStrike" spc="-1" dirty="0">
                <a:solidFill>
                  <a:schemeClr val="lt1"/>
                </a:solidFill>
                <a:latin typeface="Arial Black"/>
              </a:rPr>
              <a:t> je Docker </a:t>
            </a:r>
            <a:r>
              <a:rPr lang="en-US" sz="3600" b="0" strike="noStrike" spc="-1" dirty="0" err="1">
                <a:solidFill>
                  <a:schemeClr val="lt1"/>
                </a:solidFill>
                <a:latin typeface="Arial Black"/>
              </a:rPr>
              <a:t>i</a:t>
            </a:r>
            <a:r>
              <a:rPr lang="en-US" sz="3600" spc="-1" dirty="0">
                <a:solidFill>
                  <a:schemeClr val="lt1"/>
                </a:solidFill>
                <a:latin typeface="Arial Black"/>
              </a:rPr>
              <a:t> </a:t>
            </a:r>
            <a:r>
              <a:rPr lang="en-US" sz="3600" spc="-1" dirty="0" err="1">
                <a:solidFill>
                  <a:schemeClr val="lt1"/>
                </a:solidFill>
                <a:latin typeface="Arial Black"/>
              </a:rPr>
              <a:t>koja</a:t>
            </a:r>
            <a:r>
              <a:rPr lang="en-US" sz="3600" spc="-1" dirty="0">
                <a:solidFill>
                  <a:schemeClr val="lt1"/>
                </a:solidFill>
                <a:latin typeface="Arial Black"/>
              </a:rPr>
              <a:t> je </a:t>
            </a:r>
            <a:r>
              <a:rPr lang="en-US" sz="3600" spc="-1" dirty="0" err="1">
                <a:solidFill>
                  <a:schemeClr val="lt1"/>
                </a:solidFill>
                <a:latin typeface="Arial Black"/>
              </a:rPr>
              <a:t>njegova</a:t>
            </a:r>
            <a:r>
              <a:rPr lang="en-US" sz="3600" b="0" strike="noStrike" spc="-1" dirty="0">
                <a:solidFill>
                  <a:schemeClr val="lt1"/>
                </a:solidFill>
                <a:latin typeface="Arial Black"/>
              </a:rPr>
              <a:t> </a:t>
            </a:r>
            <a:r>
              <a:rPr lang="en-US" sz="3600" b="0" strike="noStrike" spc="-1" dirty="0" err="1">
                <a:solidFill>
                  <a:schemeClr val="lt1"/>
                </a:solidFill>
                <a:latin typeface="Arial Black"/>
              </a:rPr>
              <a:t>uloga</a:t>
            </a:r>
            <a:endParaRPr lang="en-US" sz="3600" b="0" strike="noStrike" spc="-1" dirty="0" err="1">
              <a:solidFill>
                <a:schemeClr val="lt1"/>
              </a:solidFill>
              <a:latin typeface="Arial"/>
              <a:cs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 dirty="0" err="1">
                <a:solidFill>
                  <a:schemeClr val="lt1"/>
                </a:solidFill>
                <a:latin typeface="Arial Black"/>
              </a:rPr>
              <a:t>Šta</a:t>
            </a:r>
            <a:r>
              <a:rPr lang="en-US" sz="3600" b="0" strike="noStrike" spc="-1" dirty="0">
                <a:solidFill>
                  <a:schemeClr val="lt1"/>
                </a:solidFill>
                <a:latin typeface="Arial Black"/>
              </a:rPr>
              <a:t> je </a:t>
            </a:r>
            <a:r>
              <a:rPr lang="en-US" sz="3600" b="0" strike="noStrike" spc="-1" dirty="0" err="1">
                <a:solidFill>
                  <a:schemeClr val="lt1"/>
                </a:solidFill>
                <a:latin typeface="Arial Black"/>
              </a:rPr>
              <a:t>dokerizacija</a:t>
            </a:r>
            <a:endParaRPr lang="en-US" sz="3600" b="0" strike="noStrike" spc="-1" dirty="0" err="1">
              <a:solidFill>
                <a:schemeClr val="lt1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 dirty="0">
                <a:solidFill>
                  <a:schemeClr val="lt1"/>
                </a:solidFill>
                <a:latin typeface="Arial Black"/>
              </a:rPr>
              <a:t>Kako se </a:t>
            </a:r>
            <a:r>
              <a:rPr lang="en-US" sz="3600" b="0" strike="noStrike" spc="-1" dirty="0" err="1">
                <a:solidFill>
                  <a:schemeClr val="lt1"/>
                </a:solidFill>
                <a:latin typeface="Arial Black"/>
              </a:rPr>
              <a:t>podešava</a:t>
            </a:r>
            <a:r>
              <a:rPr lang="en-US" sz="3600" b="0" strike="noStrike" spc="-1" dirty="0">
                <a:solidFill>
                  <a:schemeClr val="lt1"/>
                </a:solidFill>
                <a:latin typeface="Arial Black"/>
              </a:rPr>
              <a:t> </a:t>
            </a:r>
            <a:r>
              <a:rPr lang="en-US" sz="3600" b="0" strike="noStrike" spc="-1" dirty="0" err="1">
                <a:solidFill>
                  <a:schemeClr val="lt1"/>
                </a:solidFill>
                <a:latin typeface="Arial Black"/>
              </a:rPr>
              <a:t>dokerizacija</a:t>
            </a:r>
            <a:endParaRPr lang="en-US" sz="3600" b="0" strike="noStrike" spc="-1" dirty="0" err="1">
              <a:solidFill>
                <a:schemeClr val="lt1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Kako (</a:t>
            </a:r>
            <a:r>
              <a:rPr lang="en-US" sz="3600" b="0" strike="noStrike" spc="-1" err="1">
                <a:solidFill>
                  <a:schemeClr val="lt1"/>
                </a:solidFill>
                <a:latin typeface="Arial Black"/>
              </a:rPr>
              <a:t>gde</a:t>
            </a: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) se </a:t>
            </a:r>
            <a:r>
              <a:rPr lang="en-US" sz="3600" b="0" strike="noStrike" spc="-1" err="1">
                <a:solidFill>
                  <a:schemeClr val="lt1"/>
                </a:solidFill>
                <a:latin typeface="Arial Black"/>
              </a:rPr>
              <a:t>sakrivaju</a:t>
            </a:r>
            <a:r>
              <a:rPr lang="en-US" sz="3600" b="0" strike="noStrike" spc="-1" dirty="0">
                <a:solidFill>
                  <a:schemeClr val="lt1"/>
                </a:solidFill>
                <a:latin typeface="Arial Black"/>
              </a:rPr>
              <a:t> </a:t>
            </a:r>
            <a:r>
              <a:rPr lang="en-US" sz="3600" b="0" strike="noStrike" spc="-1" err="1">
                <a:solidFill>
                  <a:schemeClr val="lt1"/>
                </a:solidFill>
                <a:latin typeface="Arial Black"/>
              </a:rPr>
              <a:t>osetljivi</a:t>
            </a:r>
            <a:r>
              <a:rPr lang="en-US" sz="3600" b="0" strike="noStrike" spc="-1" dirty="0">
                <a:solidFill>
                  <a:schemeClr val="lt1"/>
                </a:solidFill>
                <a:latin typeface="Arial Black"/>
              </a:rPr>
              <a:t> </a:t>
            </a:r>
            <a:r>
              <a:rPr lang="en-US" sz="3600" b="0" strike="noStrike" spc="-1" err="1">
                <a:solidFill>
                  <a:schemeClr val="lt1"/>
                </a:solidFill>
                <a:latin typeface="Arial Black"/>
              </a:rPr>
              <a:t>podaci</a:t>
            </a:r>
            <a:endParaRPr lang="en-US" sz="3600" b="0" strike="noStrike" spc="-1" err="1">
              <a:solidFill>
                <a:schemeClr val="lt1"/>
              </a:solidFill>
              <a:latin typeface="Arial"/>
            </a:endParaRPr>
          </a:p>
        </p:txBody>
      </p:sp>
      <p:grpSp>
        <p:nvGrpSpPr>
          <p:cNvPr id="162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163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164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165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7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68" name="Picture 12" descr="Docker - Free brands and logotypes icons"/>
          <p:cNvPicPr/>
          <p:nvPr/>
        </p:nvPicPr>
        <p:blipFill>
          <a:blip r:embed="rId3"/>
          <a:stretch/>
        </p:blipFill>
        <p:spPr>
          <a:xfrm>
            <a:off x="10667160" y="5329440"/>
            <a:ext cx="1238400" cy="123840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300"/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300" fill="hold"/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300" fill="hold"/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" dur="300"/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7" dur="300" fill="hold"/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300" fill="hold"/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3" dur="300"/>
                                        <p:tgtEl>
                                          <p:spTgt spid="1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4" dur="300" fill="hold"/>
                                        <p:tgtEl>
                                          <p:spTgt spid="1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" dur="300" fill="hold"/>
                                        <p:tgtEl>
                                          <p:spTgt spid="1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2438280" y="204480"/>
            <a:ext cx="9466920" cy="97632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5400" b="0" strike="noStrike" spc="-1">
                <a:solidFill>
                  <a:srgbClr val="ED7D31"/>
                </a:solidFill>
                <a:latin typeface="Arial Black"/>
              </a:rPr>
              <a:t>DOCKERIZATION</a:t>
            </a:r>
            <a:endParaRPr lang="sr-Latn-RS" sz="5400" b="0" strike="noStrike" spc="-1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170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171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172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173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5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76" name="Picture 12" descr="Docker - Free brands and logotypes icons"/>
          <p:cNvPicPr/>
          <p:nvPr/>
        </p:nvPicPr>
        <p:blipFill>
          <a:blip r:embed="rId3"/>
          <a:stretch/>
        </p:blipFill>
        <p:spPr>
          <a:xfrm>
            <a:off x="10667160" y="5329440"/>
            <a:ext cx="1238400" cy="123840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  <p:pic>
        <p:nvPicPr>
          <p:cNvPr id="177" name="Picture 176"/>
          <p:cNvPicPr/>
          <p:nvPr/>
        </p:nvPicPr>
        <p:blipFill>
          <a:blip r:embed="rId4"/>
          <a:stretch/>
        </p:blipFill>
        <p:spPr>
          <a:xfrm>
            <a:off x="2250000" y="1949040"/>
            <a:ext cx="7086600" cy="39945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2438280" y="204480"/>
            <a:ext cx="9466920" cy="97632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5400" b="0" strike="noStrike" spc="-1">
                <a:solidFill>
                  <a:srgbClr val="ED7D31"/>
                </a:solidFill>
                <a:latin typeface="Arial Black"/>
              </a:rPr>
              <a:t>DOCKERIZATION</a:t>
            </a:r>
            <a:endParaRPr lang="sr-Latn-RS" sz="5400" b="0" strike="noStrike" spc="-1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179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180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181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182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4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85" name="Picture 12" descr="Docker - Free brands and logotypes icons"/>
          <p:cNvPicPr/>
          <p:nvPr/>
        </p:nvPicPr>
        <p:blipFill>
          <a:blip r:embed="rId3"/>
          <a:stretch/>
        </p:blipFill>
        <p:spPr>
          <a:xfrm>
            <a:off x="10667160" y="5329440"/>
            <a:ext cx="1238400" cy="123840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  <p:pic>
        <p:nvPicPr>
          <p:cNvPr id="186" name="Picture 8"/>
          <p:cNvPicPr/>
          <p:nvPr/>
        </p:nvPicPr>
        <p:blipFill>
          <a:blip r:embed="rId4"/>
          <a:stretch/>
        </p:blipFill>
        <p:spPr>
          <a:xfrm>
            <a:off x="2077200" y="2247480"/>
            <a:ext cx="3281040" cy="405756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  <p:pic>
        <p:nvPicPr>
          <p:cNvPr id="187" name="Picture 11"/>
          <p:cNvPicPr/>
          <p:nvPr/>
        </p:nvPicPr>
        <p:blipFill>
          <a:blip r:embed="rId5"/>
          <a:stretch/>
        </p:blipFill>
        <p:spPr>
          <a:xfrm>
            <a:off x="6364440" y="1665000"/>
            <a:ext cx="3441960" cy="413712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3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3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3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2438280" y="204480"/>
            <a:ext cx="9466920" cy="97632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5400" b="0" strike="noStrike" spc="-1">
                <a:solidFill>
                  <a:srgbClr val="ED7D31"/>
                </a:solidFill>
                <a:latin typeface="Arial Black"/>
              </a:rPr>
              <a:t>JWT AUTHENTICATION</a:t>
            </a:r>
            <a:endParaRPr lang="sr-Latn-RS" sz="5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9" name="Title 1"/>
          <p:cNvSpPr/>
          <p:nvPr/>
        </p:nvSpPr>
        <p:spPr>
          <a:xfrm>
            <a:off x="1614960" y="2366280"/>
            <a:ext cx="8961480" cy="470484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Šta je JWT i čemu služi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Kako je JWT implementiran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Šta je uloga korisnika 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Korisničko praćenje topics-a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90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191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192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193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5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96" name="Picture 2" descr="Jwt Website 3D Icons - Free Download in PNG, glTF"/>
          <p:cNvPicPr/>
          <p:nvPr/>
        </p:nvPicPr>
        <p:blipFill>
          <a:blip r:embed="rId3"/>
          <a:stretch/>
        </p:blipFill>
        <p:spPr>
          <a:xfrm>
            <a:off x="10576800" y="5378040"/>
            <a:ext cx="1433880" cy="143388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300"/>
                                        <p:tgtEl>
                                          <p:spTgt spid="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300" fill="hold"/>
                                        <p:tgtEl>
                                          <p:spTgt spid="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300" fill="hold"/>
                                        <p:tgtEl>
                                          <p:spTgt spid="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" dur="300"/>
                                        <p:tgtEl>
                                          <p:spTgt spid="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7" dur="300" fill="hold"/>
                                        <p:tgtEl>
                                          <p:spTgt spid="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300" fill="hold"/>
                                        <p:tgtEl>
                                          <p:spTgt spid="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3" dur="300"/>
                                        <p:tgtEl>
                                          <p:spTgt spid="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4" dur="300" fill="hold"/>
                                        <p:tgtEl>
                                          <p:spTgt spid="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" dur="300" fill="hold"/>
                                        <p:tgtEl>
                                          <p:spTgt spid="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2438280" y="347760"/>
            <a:ext cx="9466920" cy="128160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t">
            <a:normAutofit fontScale="81153"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5400" b="0" strike="noStrike" spc="-1">
                <a:solidFill>
                  <a:srgbClr val="ED7D31"/>
                </a:solidFill>
                <a:latin typeface="Arial Black"/>
              </a:rPr>
              <a:t>ŠTA UVODI MOGUĆNOST UPOTREBE NALOGA</a:t>
            </a:r>
            <a:endParaRPr lang="sr-Latn-RS" sz="5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8" name="Title 1"/>
          <p:cNvSpPr/>
          <p:nvPr/>
        </p:nvSpPr>
        <p:spPr>
          <a:xfrm>
            <a:off x="2167560" y="1995840"/>
            <a:ext cx="8961480" cy="470484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Praćenje poruka za topic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Filtrirani prikaz topics-a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Podela uloga korisnika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Korisnička podešavanja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Admin funkcionalnosti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99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200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201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202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3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4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05" name="Picture 2" descr="User - Free user icons"/>
          <p:cNvPicPr/>
          <p:nvPr/>
        </p:nvPicPr>
        <p:blipFill>
          <a:blip r:embed="rId3"/>
          <a:stretch/>
        </p:blipFill>
        <p:spPr>
          <a:xfrm>
            <a:off x="10661760" y="5391720"/>
            <a:ext cx="1309320" cy="125640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300"/>
                                        <p:tgtEl>
                                          <p:spTgt spid="1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300" fill="hold"/>
                                        <p:tgtEl>
                                          <p:spTgt spid="1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300" fill="hold"/>
                                        <p:tgtEl>
                                          <p:spTgt spid="1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" dur="300"/>
                                        <p:tgtEl>
                                          <p:spTgt spid="1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7" dur="300" fill="hold"/>
                                        <p:tgtEl>
                                          <p:spTgt spid="1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300" fill="hold"/>
                                        <p:tgtEl>
                                          <p:spTgt spid="1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3" dur="300"/>
                                        <p:tgtEl>
                                          <p:spTgt spid="1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4" dur="300" fill="hold"/>
                                        <p:tgtEl>
                                          <p:spTgt spid="1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" dur="300" fill="hold"/>
                                        <p:tgtEl>
                                          <p:spTgt spid="1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0" dur="300"/>
                                        <p:tgtEl>
                                          <p:spTgt spid="1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1" dur="300" fill="hold"/>
                                        <p:tgtEl>
                                          <p:spTgt spid="1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2" dur="300" fill="hold"/>
                                        <p:tgtEl>
                                          <p:spTgt spid="1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2438280" y="204480"/>
            <a:ext cx="9466920" cy="97632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5400" b="0" strike="noStrike" spc="-1">
                <a:solidFill>
                  <a:srgbClr val="ED7D31"/>
                </a:solidFill>
                <a:latin typeface="Arial Black"/>
              </a:rPr>
              <a:t>SIMULATOR</a:t>
            </a:r>
            <a:endParaRPr lang="sr-Latn-RS" sz="5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7" name="Title 1"/>
          <p:cNvSpPr/>
          <p:nvPr/>
        </p:nvSpPr>
        <p:spPr>
          <a:xfrm>
            <a:off x="1590840" y="1729080"/>
            <a:ext cx="9076320" cy="470484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Šta je cilj simulatora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Podela uloga projekata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Kako simulator funkcioniše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Zašto je simulator bitan i kako nas približava realnom sistemu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08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209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210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211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2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3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14" name="Picture 2" descr="Simulation - Free computer icons"/>
          <p:cNvPicPr/>
          <p:nvPr/>
        </p:nvPicPr>
        <p:blipFill>
          <a:blip r:embed="rId3"/>
          <a:stretch/>
        </p:blipFill>
        <p:spPr>
          <a:xfrm>
            <a:off x="10667160" y="5247360"/>
            <a:ext cx="1324440" cy="132444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300"/>
                                        <p:tgtEl>
                                          <p:spTgt spid="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300" fill="hold"/>
                                        <p:tgtEl>
                                          <p:spTgt spid="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300" fill="hold"/>
                                        <p:tgtEl>
                                          <p:spTgt spid="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" dur="300"/>
                                        <p:tgtEl>
                                          <p:spTgt spid="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7" dur="300" fill="hold"/>
                                        <p:tgtEl>
                                          <p:spTgt spid="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300" fill="hold"/>
                                        <p:tgtEl>
                                          <p:spTgt spid="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3" dur="300"/>
                                        <p:tgtEl>
                                          <p:spTgt spid="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4" dur="300" fill="hold"/>
                                        <p:tgtEl>
                                          <p:spTgt spid="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" dur="300" fill="hold"/>
                                        <p:tgtEl>
                                          <p:spTgt spid="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2438280" y="204480"/>
            <a:ext cx="9466920" cy="97632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5400" b="0" strike="noStrike" spc="-1">
                <a:solidFill>
                  <a:srgbClr val="ED7D31"/>
                </a:solidFill>
                <a:latin typeface="Arial Black"/>
              </a:rPr>
              <a:t>SIMULATOR</a:t>
            </a:r>
            <a:endParaRPr lang="sr-Latn-RS" sz="5400" b="0" strike="noStrike" spc="-1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216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217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218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219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0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1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22" name="Picture 2" descr="Simulation - Free computer icons"/>
          <p:cNvPicPr/>
          <p:nvPr/>
        </p:nvPicPr>
        <p:blipFill>
          <a:blip r:embed="rId3"/>
          <a:stretch/>
        </p:blipFill>
        <p:spPr>
          <a:xfrm>
            <a:off x="10667160" y="5247360"/>
            <a:ext cx="1324440" cy="132444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  <p:pic>
        <p:nvPicPr>
          <p:cNvPr id="223" name="Picture 222"/>
          <p:cNvPicPr/>
          <p:nvPr/>
        </p:nvPicPr>
        <p:blipFill>
          <a:blip r:embed="rId4"/>
          <a:stretch/>
        </p:blipFill>
        <p:spPr>
          <a:xfrm>
            <a:off x="3200400" y="1846080"/>
            <a:ext cx="5072040" cy="36997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2610356" y="75240"/>
            <a:ext cx="9320068" cy="1642769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Autofit/>
          </a:bodyPr>
          <a:lstStyle/>
          <a:p>
            <a:pPr algn="ctr"/>
            <a:r>
              <a:rPr lang="en-US" sz="4800" spc="-1">
                <a:solidFill>
                  <a:srgbClr val="ED7D31"/>
                </a:solidFill>
                <a:latin typeface="Arial Black"/>
              </a:rPr>
              <a:t>ADMIN -</a:t>
            </a:r>
            <a:r>
              <a:rPr lang="en-US" sz="4800" b="0" strike="noStrike" spc="-1">
                <a:solidFill>
                  <a:srgbClr val="ED7D31"/>
                </a:solidFill>
                <a:latin typeface="Arial Black"/>
              </a:rPr>
              <a:t> UPRAVLJANJE </a:t>
            </a:r>
            <a:r>
              <a:rPr lang="en-US" sz="4800" spc="-1" dirty="0">
                <a:solidFill>
                  <a:srgbClr val="ED7D31"/>
                </a:solidFill>
                <a:latin typeface="Arial Black"/>
              </a:rPr>
              <a:t>PORUKAMA </a:t>
            </a:r>
            <a:r>
              <a:rPr lang="en-US" sz="4800" b="0" strike="noStrike" spc="-1" dirty="0">
                <a:solidFill>
                  <a:srgbClr val="ED7D31"/>
                </a:solidFill>
                <a:latin typeface="Arial Black"/>
              </a:rPr>
              <a:t>SIMULATORA</a:t>
            </a:r>
            <a:endParaRPr lang="en-US" sz="4800" b="0" strike="noStrike" spc="-1" dirty="0">
              <a:solidFill>
                <a:srgbClr val="ED7D31"/>
              </a:solidFill>
              <a:latin typeface="Arial Black"/>
              <a:ea typeface="Calibri"/>
              <a:cs typeface="Calibri"/>
            </a:endParaRPr>
          </a:p>
        </p:txBody>
      </p:sp>
      <p:sp>
        <p:nvSpPr>
          <p:cNvPr id="225" name="Title 1"/>
          <p:cNvSpPr/>
          <p:nvPr/>
        </p:nvSpPr>
        <p:spPr>
          <a:xfrm>
            <a:off x="1705320" y="1818360"/>
            <a:ext cx="8961480" cy="433872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3651" lnSpcReduction="10000"/>
          </a:bodyPr>
          <a:lstStyle/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Promena načina funkcionisanja simulatora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Kako admin menja vrednost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Kako nas ovo dodatno približava realnom sistemu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Improvements za budućnost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26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227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228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229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0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1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32" name="Picture 2" descr="Management - Free user icons"/>
          <p:cNvPicPr/>
          <p:nvPr/>
        </p:nvPicPr>
        <p:blipFill>
          <a:blip r:embed="rId3"/>
          <a:stretch/>
        </p:blipFill>
        <p:spPr>
          <a:xfrm>
            <a:off x="10619280" y="5257800"/>
            <a:ext cx="1429200" cy="142920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300"/>
                                        <p:tgtEl>
                                          <p:spTgt spid="2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300" fill="hold"/>
                                        <p:tgtEl>
                                          <p:spTgt spid="2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300" fill="hold"/>
                                        <p:tgtEl>
                                          <p:spTgt spid="2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" dur="300"/>
                                        <p:tgtEl>
                                          <p:spTgt spid="2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7" dur="300" fill="hold"/>
                                        <p:tgtEl>
                                          <p:spTgt spid="2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300" fill="hold"/>
                                        <p:tgtEl>
                                          <p:spTgt spid="2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3" dur="300"/>
                                        <p:tgtEl>
                                          <p:spTgt spid="2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4" dur="300" fill="hold"/>
                                        <p:tgtEl>
                                          <p:spTgt spid="2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" dur="300" fill="hold"/>
                                        <p:tgtEl>
                                          <p:spTgt spid="2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2219400" y="204480"/>
            <a:ext cx="9686160" cy="176184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5400" b="0" strike="noStrike" spc="-1">
                <a:solidFill>
                  <a:srgbClr val="ED7D31"/>
                </a:solidFill>
                <a:latin typeface="Arial Black"/>
              </a:rPr>
              <a:t>PROJEKAT NAKON PODELE ULOGA</a:t>
            </a:r>
            <a:endParaRPr lang="sr-Latn-RS" sz="5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4" name="Title 1"/>
          <p:cNvSpPr/>
          <p:nvPr/>
        </p:nvSpPr>
        <p:spPr>
          <a:xfrm>
            <a:off x="1393200" y="2443680"/>
            <a:ext cx="8961480" cy="433872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Kako backend funkcioniše nakon podele uloga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Kako funkcionišu liste topics-a i korisničke pretplate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35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236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237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238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9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0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41" name="Picture 4" descr="Backend - Free seo and web icons"/>
          <p:cNvPicPr/>
          <p:nvPr/>
        </p:nvPicPr>
        <p:blipFill>
          <a:blip r:embed="rId3"/>
          <a:stretch/>
        </p:blipFill>
        <p:spPr>
          <a:xfrm>
            <a:off x="10458360" y="5335200"/>
            <a:ext cx="1589400" cy="158940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300"/>
                                        <p:tgtEl>
                                          <p:spTgt spid="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300" fill="hold"/>
                                        <p:tgtEl>
                                          <p:spTgt spid="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300" fill="hold"/>
                                        <p:tgtEl>
                                          <p:spTgt spid="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2438280" y="204480"/>
            <a:ext cx="9466920" cy="97632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5400" b="0" strike="noStrike" spc="-1">
                <a:solidFill>
                  <a:srgbClr val="ED7D31"/>
                </a:solidFill>
                <a:latin typeface="Arial Black"/>
              </a:rPr>
              <a:t>ALARMI</a:t>
            </a:r>
            <a:endParaRPr lang="sr-Latn-RS" sz="5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3" name="Title 1"/>
          <p:cNvSpPr/>
          <p:nvPr/>
        </p:nvSpPr>
        <p:spPr>
          <a:xfrm>
            <a:off x="1717200" y="2366280"/>
            <a:ext cx="8757360" cy="470484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Šta su alarmi i zašto su značajni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Kako su alarmi implementirani u projektu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44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245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246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247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8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9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50" name="Picture 2" descr="Alarm - Free security icons"/>
          <p:cNvPicPr/>
          <p:nvPr/>
        </p:nvPicPr>
        <p:blipFill>
          <a:blip r:embed="rId3"/>
          <a:stretch/>
        </p:blipFill>
        <p:spPr>
          <a:xfrm>
            <a:off x="10577160" y="5153040"/>
            <a:ext cx="1500120" cy="150012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300"/>
                                        <p:tgtEl>
                                          <p:spTgt spid="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300" fill="hold"/>
                                        <p:tgtEl>
                                          <p:spTgt spid="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300" fill="hold"/>
                                        <p:tgtEl>
                                          <p:spTgt spid="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2438280" y="204480"/>
            <a:ext cx="9466920" cy="97632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5400" b="0" strike="noStrike" spc="-1">
                <a:solidFill>
                  <a:srgbClr val="ED7D31"/>
                </a:solidFill>
                <a:latin typeface="Arial Black"/>
              </a:rPr>
              <a:t>SIGNALIR</a:t>
            </a:r>
            <a:endParaRPr lang="sr-Latn-RS" sz="5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2" name="Title 1"/>
          <p:cNvSpPr/>
          <p:nvPr/>
        </p:nvSpPr>
        <p:spPr>
          <a:xfrm>
            <a:off x="2340360" y="2366280"/>
            <a:ext cx="8961480" cy="470484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Šta je SignalIR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Kako je implementiran u projektu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53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254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255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256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7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8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59" name="Picture 4" descr="NET monitoring &amp; observability | Dynatrace Hub"/>
          <p:cNvPicPr/>
          <p:nvPr/>
        </p:nvPicPr>
        <p:blipFill>
          <a:blip r:embed="rId3"/>
          <a:stretch/>
        </p:blipFill>
        <p:spPr>
          <a:xfrm>
            <a:off x="10536120" y="5257800"/>
            <a:ext cx="1531800" cy="153180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300"/>
                                        <p:tgtEl>
                                          <p:spTgt spid="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300" fill="hold"/>
                                        <p:tgtEl>
                                          <p:spTgt spid="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300" fill="hold"/>
                                        <p:tgtEl>
                                          <p:spTgt spid="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B9116-7685-61E7-514D-5479A300B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>
            <a:extLst>
              <a:ext uri="{FF2B5EF4-FFF2-40B4-BE49-F238E27FC236}">
                <a16:creationId xmlns:a16="http://schemas.microsoft.com/office/drawing/2014/main" id="{BCB82FC1-A4C5-6D15-E45D-49A6C5BC8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280" y="204480"/>
            <a:ext cx="9466920" cy="97632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5400" b="0" strike="noStrike" spc="-1">
                <a:solidFill>
                  <a:srgbClr val="ED7D31"/>
                </a:solidFill>
                <a:latin typeface="Arial Black"/>
              </a:rPr>
              <a:t>SIGNALIR</a:t>
            </a:r>
            <a:endParaRPr lang="sr-Latn-RS" sz="5400" b="0" strike="noStrike" spc="-1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253" name="Group 4">
            <a:extLst>
              <a:ext uri="{FF2B5EF4-FFF2-40B4-BE49-F238E27FC236}">
                <a16:creationId xmlns:a16="http://schemas.microsoft.com/office/drawing/2014/main" id="{0DC24EE6-BAF6-82B3-BBB2-5F09DB841030}"/>
              </a:ext>
            </a:extLst>
          </p:cNvPr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254" name="Rectangle 5">
              <a:extLst>
                <a:ext uri="{FF2B5EF4-FFF2-40B4-BE49-F238E27FC236}">
                  <a16:creationId xmlns:a16="http://schemas.microsoft.com/office/drawing/2014/main" id="{5B3E6B8D-5F43-CFED-CE93-98D6CA6912B0}"/>
                </a:ext>
              </a:extLst>
            </p:cNvPr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255" name="Picture 2" descr="INIT Technologies – Fairs PKS">
              <a:extLst>
                <a:ext uri="{FF2B5EF4-FFF2-40B4-BE49-F238E27FC236}">
                  <a16:creationId xmlns:a16="http://schemas.microsoft.com/office/drawing/2014/main" id="{FF65ECCC-3423-3881-4511-420A56E85519}"/>
                </a:ext>
              </a:extLst>
            </p:cNvPr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256" name="Rectangle 7">
            <a:extLst>
              <a:ext uri="{FF2B5EF4-FFF2-40B4-BE49-F238E27FC236}">
                <a16:creationId xmlns:a16="http://schemas.microsoft.com/office/drawing/2014/main" id="{AFA0C39A-A36A-8A20-3E0A-3294F559503A}"/>
              </a:ext>
            </a:extLst>
          </p:cNvPr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7" name="AutoShape 2">
            <a:extLst>
              <a:ext uri="{FF2B5EF4-FFF2-40B4-BE49-F238E27FC236}">
                <a16:creationId xmlns:a16="http://schemas.microsoft.com/office/drawing/2014/main" id="{B31AC99B-A4A1-69D7-28B5-CBC29697CE09}"/>
              </a:ext>
            </a:extLst>
          </p:cNvPr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8" name="AutoShape 4">
            <a:extLst>
              <a:ext uri="{FF2B5EF4-FFF2-40B4-BE49-F238E27FC236}">
                <a16:creationId xmlns:a16="http://schemas.microsoft.com/office/drawing/2014/main" id="{BB65FE50-FF17-F00F-08C0-8F0F446294D3}"/>
              </a:ext>
            </a:extLst>
          </p:cNvPr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59" name="Picture 4" descr="NET monitoring &amp; observability | Dynatrace Hub">
            <a:extLst>
              <a:ext uri="{FF2B5EF4-FFF2-40B4-BE49-F238E27FC236}">
                <a16:creationId xmlns:a16="http://schemas.microsoft.com/office/drawing/2014/main" id="{E59894EE-E13F-1508-948D-859C980BA4FA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536120" y="5257800"/>
            <a:ext cx="1531800" cy="153180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A6EC44-5244-183E-D62D-982EC1C537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6847" y="2510526"/>
            <a:ext cx="8225692" cy="245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41262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2438280" y="204480"/>
            <a:ext cx="9466920" cy="97632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5400" b="0" strike="noStrike" spc="-1">
                <a:solidFill>
                  <a:srgbClr val="ED7D31"/>
                </a:solidFill>
                <a:latin typeface="Arial Black"/>
              </a:rPr>
              <a:t>UNIT TESTOVI</a:t>
            </a:r>
            <a:endParaRPr lang="sr-Latn-RS" sz="5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1" name="Title 1"/>
          <p:cNvSpPr/>
          <p:nvPr/>
        </p:nvSpPr>
        <p:spPr>
          <a:xfrm>
            <a:off x="1643400" y="2366280"/>
            <a:ext cx="8961480" cy="470484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Šta su Unit testovi i čemu služe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Šta je Mock i kako se koristi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Primena i značaj AI u testiranju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62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263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264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265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6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7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68" name="Picture 2" descr="Unit testing - Free technology icons"/>
          <p:cNvPicPr/>
          <p:nvPr/>
        </p:nvPicPr>
        <p:blipFill>
          <a:blip r:embed="rId3"/>
          <a:stretch/>
        </p:blipFill>
        <p:spPr>
          <a:xfrm>
            <a:off x="10729440" y="5400720"/>
            <a:ext cx="1166760" cy="116676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300"/>
                                        <p:tgtEl>
                                          <p:spTgt spid="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300" fill="hold"/>
                                        <p:tgtEl>
                                          <p:spTgt spid="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300" fill="hold"/>
                                        <p:tgtEl>
                                          <p:spTgt spid="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" dur="300"/>
                                        <p:tgtEl>
                                          <p:spTgt spid="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7" dur="300" fill="hold"/>
                                        <p:tgtEl>
                                          <p:spTgt spid="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300" fill="hold"/>
                                        <p:tgtEl>
                                          <p:spTgt spid="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2438280" y="204480"/>
            <a:ext cx="9466920" cy="97632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800" b="0" strike="noStrike" spc="-1">
                <a:solidFill>
                  <a:srgbClr val="ED7D31"/>
                </a:solidFill>
                <a:latin typeface="Arial Black"/>
              </a:rPr>
              <a:t>MOJI UTISCI I ISKUSTVO</a:t>
            </a:r>
            <a:endParaRPr lang="sr-Latn-RS" sz="48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0" name="Title 1"/>
          <p:cNvSpPr/>
          <p:nvPr/>
        </p:nvSpPr>
        <p:spPr>
          <a:xfrm>
            <a:off x="2186640" y="2089440"/>
            <a:ext cx="8618044" cy="4769234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rmAutofit/>
          </a:bodyPr>
          <a:lstStyle/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 dirty="0">
                <a:solidFill>
                  <a:schemeClr val="lt1"/>
                </a:solidFill>
                <a:latin typeface="Arial Black"/>
              </a:rPr>
              <a:t>Proširenje </a:t>
            </a:r>
            <a:r>
              <a:rPr lang="en-US" sz="3600" b="0" strike="noStrike" spc="-1" dirty="0" err="1">
                <a:solidFill>
                  <a:schemeClr val="lt1"/>
                </a:solidFill>
                <a:latin typeface="Arial Black"/>
              </a:rPr>
              <a:t>znanja</a:t>
            </a:r>
            <a:r>
              <a:rPr lang="en-US" sz="3600" b="0" strike="noStrike" spc="-1" dirty="0">
                <a:solidFill>
                  <a:schemeClr val="lt1"/>
                </a:solidFill>
                <a:latin typeface="Arial Black"/>
              </a:rPr>
              <a:t> </a:t>
            </a:r>
            <a:r>
              <a:rPr lang="en-US" sz="3600" b="0" strike="noStrike" spc="-1" dirty="0" err="1">
                <a:solidFill>
                  <a:schemeClr val="lt1"/>
                </a:solidFill>
                <a:latin typeface="Arial Black"/>
              </a:rPr>
              <a:t>tokom</a:t>
            </a:r>
            <a:r>
              <a:rPr lang="en-US" sz="3600" b="0" strike="noStrike" spc="-1" dirty="0">
                <a:solidFill>
                  <a:schemeClr val="lt1"/>
                </a:solidFill>
                <a:latin typeface="Arial Black"/>
              </a:rPr>
              <a:t> rada</a:t>
            </a:r>
            <a:endParaRPr lang="en-US" sz="3600" b="0" strike="noStrike" spc="-1" dirty="0">
              <a:solidFill>
                <a:schemeClr val="lt1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 dirty="0" err="1">
                <a:solidFill>
                  <a:schemeClr val="lt1"/>
                </a:solidFill>
                <a:latin typeface="Arial Black"/>
              </a:rPr>
              <a:t>Poteškoće</a:t>
            </a:r>
            <a:r>
              <a:rPr lang="en-US" sz="3600" b="0" strike="noStrike" spc="-1" dirty="0">
                <a:solidFill>
                  <a:schemeClr val="lt1"/>
                </a:solidFill>
                <a:latin typeface="Arial Black"/>
              </a:rPr>
              <a:t> </a:t>
            </a:r>
            <a:r>
              <a:rPr lang="en-US" sz="3600" b="0" strike="noStrike" spc="-1" dirty="0" err="1">
                <a:solidFill>
                  <a:schemeClr val="lt1"/>
                </a:solidFill>
                <a:latin typeface="Arial Black"/>
              </a:rPr>
              <a:t>sa</a:t>
            </a:r>
            <a:r>
              <a:rPr lang="en-US" sz="3600" b="0" strike="noStrike" spc="-1" dirty="0">
                <a:solidFill>
                  <a:schemeClr val="lt1"/>
                </a:solidFill>
                <a:latin typeface="Arial Black"/>
              </a:rPr>
              <a:t> </a:t>
            </a:r>
            <a:r>
              <a:rPr lang="en-US" sz="3600" spc="-1" dirty="0" err="1">
                <a:solidFill>
                  <a:schemeClr val="lt1"/>
                </a:solidFill>
                <a:latin typeface="Arial Black"/>
              </a:rPr>
              <a:t>kojima</a:t>
            </a:r>
            <a:r>
              <a:rPr lang="en-US" sz="3600" b="0" strike="noStrike" spc="-1" dirty="0">
                <a:solidFill>
                  <a:schemeClr val="lt1"/>
                </a:solidFill>
                <a:latin typeface="Arial Black"/>
              </a:rPr>
              <a:t> </a:t>
            </a:r>
            <a:r>
              <a:rPr lang="en-US" sz="3600" b="0" strike="noStrike" spc="-1" dirty="0" err="1">
                <a:solidFill>
                  <a:schemeClr val="lt1"/>
                </a:solidFill>
                <a:latin typeface="Arial Black"/>
              </a:rPr>
              <a:t>sam</a:t>
            </a:r>
            <a:r>
              <a:rPr lang="en-US" sz="3600" b="0" strike="noStrike" spc="-1" dirty="0">
                <a:solidFill>
                  <a:schemeClr val="lt1"/>
                </a:solidFill>
                <a:latin typeface="Arial Black"/>
              </a:rPr>
              <a:t> se </a:t>
            </a:r>
            <a:r>
              <a:rPr lang="en-US" sz="3600" b="0" strike="noStrike" spc="-1" dirty="0" err="1">
                <a:solidFill>
                  <a:schemeClr val="lt1"/>
                </a:solidFill>
                <a:latin typeface="Arial Black"/>
              </a:rPr>
              <a:t>sretao</a:t>
            </a:r>
            <a:endParaRPr lang="en-US" sz="3600" b="0" strike="noStrike" spc="-1" dirty="0" err="1">
              <a:solidFill>
                <a:schemeClr val="lt1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 dirty="0">
                <a:solidFill>
                  <a:schemeClr val="lt1"/>
                </a:solidFill>
                <a:latin typeface="Arial Black"/>
              </a:rPr>
              <a:t>Overall </a:t>
            </a:r>
            <a:r>
              <a:rPr lang="en-US" sz="3600" b="0" strike="noStrike" spc="-1" dirty="0" err="1">
                <a:solidFill>
                  <a:schemeClr val="lt1"/>
                </a:solidFill>
                <a:latin typeface="Arial Black"/>
              </a:rPr>
              <a:t>iskustvo</a:t>
            </a:r>
            <a:endParaRPr lang="en-US" sz="3600" b="0" strike="noStrike" spc="-1" dirty="0" err="1">
              <a:solidFill>
                <a:schemeClr val="lt1"/>
              </a:solidFill>
              <a:latin typeface="Arial"/>
            </a:endParaRPr>
          </a:p>
        </p:txBody>
      </p:sp>
      <p:grpSp>
        <p:nvGrpSpPr>
          <p:cNvPr id="271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272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273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274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5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6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77" name="Picture 2" descr="User experience - Free electronics icons"/>
          <p:cNvPicPr/>
          <p:nvPr/>
        </p:nvPicPr>
        <p:blipFill>
          <a:blip r:embed="rId3"/>
          <a:stretch/>
        </p:blipFill>
        <p:spPr>
          <a:xfrm>
            <a:off x="10553760" y="5158080"/>
            <a:ext cx="1495080" cy="149508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300"/>
                                        <p:tgtEl>
                                          <p:spTgt spid="2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300" fill="hold"/>
                                        <p:tgtEl>
                                          <p:spTgt spid="2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300" fill="hold"/>
                                        <p:tgtEl>
                                          <p:spTgt spid="2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" dur="300"/>
                                        <p:tgtEl>
                                          <p:spTgt spid="2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7" dur="300" fill="hold"/>
                                        <p:tgtEl>
                                          <p:spTgt spid="2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300" fill="hold"/>
                                        <p:tgtEl>
                                          <p:spTgt spid="2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1567080" y="1526040"/>
            <a:ext cx="9057240" cy="417888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8000" b="0" strike="noStrike" spc="-1">
                <a:solidFill>
                  <a:srgbClr val="ED7D31"/>
                </a:solidFill>
                <a:latin typeface="Arial Black"/>
              </a:rPr>
              <a:t>DISKUSIJA I PITANJA</a:t>
            </a:r>
            <a:endParaRPr lang="sr-Latn-RS" sz="8000" b="0" strike="noStrike" spc="-1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279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280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281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282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3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4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85" name="Picture 2" descr="Discussion - Free people icons"/>
          <p:cNvPicPr/>
          <p:nvPr/>
        </p:nvPicPr>
        <p:blipFill>
          <a:blip r:embed="rId3"/>
          <a:stretch/>
        </p:blipFill>
        <p:spPr>
          <a:xfrm>
            <a:off x="10624680" y="5319000"/>
            <a:ext cx="1308240" cy="130824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1580760" y="1078560"/>
            <a:ext cx="9057240" cy="417888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8000" b="0" strike="noStrike" spc="-1">
                <a:solidFill>
                  <a:srgbClr val="ED7D31"/>
                </a:solidFill>
                <a:latin typeface="Arial Black"/>
              </a:rPr>
              <a:t>KRAJ</a:t>
            </a:r>
            <a:endParaRPr lang="sr-Latn-RS" sz="8000" b="0" strike="noStrike" spc="-1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287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288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289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290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1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2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3" name="Title 1"/>
          <p:cNvSpPr/>
          <p:nvPr/>
        </p:nvSpPr>
        <p:spPr>
          <a:xfrm>
            <a:off x="1719720" y="1861200"/>
            <a:ext cx="9057240" cy="417888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 defTabSz="914400">
              <a:lnSpc>
                <a:spcPct val="90000"/>
              </a:lnSpc>
            </a:pPr>
            <a:r>
              <a:rPr lang="en-US" sz="4000" b="0" strike="noStrike" spc="-1">
                <a:solidFill>
                  <a:schemeClr val="lt1"/>
                </a:solidFill>
                <a:latin typeface="Arial Black"/>
              </a:rPr>
              <a:t>HVALA NA PAŽNJI!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316</TotalTime>
  <Words>335</Words>
  <Application>Microsoft Office PowerPoint</Application>
  <PresentationFormat>Widescreen</PresentationFormat>
  <Paragraphs>86</Paragraphs>
  <Slides>26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RestAPI</vt:lpstr>
      <vt:lpstr>O PROJEKTU</vt:lpstr>
      <vt:lpstr>MQTT PROTOKOL</vt:lpstr>
      <vt:lpstr>IMPLEMENTACIJA MQTT U PROJEKTU</vt:lpstr>
      <vt:lpstr>PROJEKAT OD KOG JE SVE POČELO - ConsoleApp</vt:lpstr>
      <vt:lpstr>PROJEKAT OD KOG JE SVE POČELO - ConsoleApp</vt:lpstr>
      <vt:lpstr>KORAK DALJE - BACKEND</vt:lpstr>
      <vt:lpstr>KORAK DALJE - BACKEND</vt:lpstr>
      <vt:lpstr>BAZA PODATAKA I REDIS</vt:lpstr>
      <vt:lpstr>LOGGING</vt:lpstr>
      <vt:lpstr>DOCKERIZATION</vt:lpstr>
      <vt:lpstr>DOCKERIZATION</vt:lpstr>
      <vt:lpstr>DOCKERIZATION</vt:lpstr>
      <vt:lpstr>JWT AUTHENTICATION</vt:lpstr>
      <vt:lpstr>ŠTA UVODI MOGUĆNOST UPOTREBE NALOGA</vt:lpstr>
      <vt:lpstr>SIMULATOR</vt:lpstr>
      <vt:lpstr>SIMULATOR</vt:lpstr>
      <vt:lpstr>ADMIN - UPRAVLJANJE PORUKAMA SIMULATORA</vt:lpstr>
      <vt:lpstr>PROJEKAT NAKON PODELE ULOGA</vt:lpstr>
      <vt:lpstr>ALARMI</vt:lpstr>
      <vt:lpstr>SIGNALIR</vt:lpstr>
      <vt:lpstr>SIGNALIR</vt:lpstr>
      <vt:lpstr>UNIT TESTOVI</vt:lpstr>
      <vt:lpstr>MOJI UTISCI I ISKUSTVO</vt:lpstr>
      <vt:lpstr>DISKUSIJA I PITANJA</vt:lpstr>
      <vt:lpstr>KRAJ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RestAPI</dc:title>
  <dc:subject/>
  <dc:creator>Nikola Tasić</dc:creator>
  <dc:description/>
  <cp:lastModifiedBy/>
  <cp:revision>396</cp:revision>
  <dcterms:created xsi:type="dcterms:W3CDTF">2026-10-15T16:45:00Z</dcterms:created>
  <dcterms:modified xsi:type="dcterms:W3CDTF">2026-10-16T07:44:04Z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24</vt:i4>
  </property>
</Properties>
</file>