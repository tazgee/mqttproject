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57" r:id="rId3"/>
    <p:sldId id="258" r:id="rId4"/>
    <p:sldId id="259" r:id="rId5"/>
    <p:sldId id="260" r:id="rId6"/>
    <p:sldId id="261" r:id="rId7"/>
    <p:sldId id="264" r:id="rId8"/>
    <p:sldId id="263" r:id="rId9"/>
    <p:sldId id="265" r:id="rId10"/>
    <p:sldId id="268" r:id="rId11"/>
    <p:sldId id="282" r:id="rId12"/>
    <p:sldId id="283" r:id="rId13"/>
    <p:sldId id="270" r:id="rId14"/>
    <p:sldId id="271" r:id="rId15"/>
    <p:sldId id="272" r:id="rId16"/>
    <p:sldId id="284" r:id="rId17"/>
    <p:sldId id="273" r:id="rId18"/>
    <p:sldId id="275" r:id="rId19"/>
    <p:sldId id="274" r:id="rId20"/>
    <p:sldId id="276" r:id="rId21"/>
    <p:sldId id="277" r:id="rId22"/>
    <p:sldId id="278" r:id="rId23"/>
    <p:sldId id="279" r:id="rId24"/>
    <p:sldId id="280" r:id="rId25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8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A03F2-A986-49AD-A532-DBAB938DB1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r-Cyrl-R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757668-9A4F-400F-AED5-A07B2EFE3C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r-Cyrl-R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C2D5F6-C688-4C40-84E0-3A794D1C0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EC2EA-EFCE-4A85-9C0D-B42C12B748D6}" type="datetimeFigureOut">
              <a:rPr lang="sr-Cyrl-RS" smtClean="0"/>
              <a:t>15.10.2026.</a:t>
            </a:fld>
            <a:endParaRPr lang="sr-Cyrl-R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D7E71-313C-4F71-BD91-066132051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Cyrl-R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A9158-D63C-4B68-9B53-BBC661ED5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DE885-59B8-40F5-BF9C-B312A9717447}" type="slidenum">
              <a:rPr lang="sr-Cyrl-RS" smtClean="0"/>
              <a:t>‹#›</a:t>
            </a:fld>
            <a:endParaRPr lang="sr-Cyrl-RS"/>
          </a:p>
        </p:txBody>
      </p:sp>
    </p:spTree>
    <p:extLst>
      <p:ext uri="{BB962C8B-B14F-4D97-AF65-F5344CB8AC3E}">
        <p14:creationId xmlns:p14="http://schemas.microsoft.com/office/powerpoint/2010/main" val="4168395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16895-E722-4734-8831-656DC39C1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Cyrl-R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9B6F4-A56A-4AD7-BA9D-CA96F77817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Cyrl-R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2923E0-68E5-4B8C-8BB2-032308F1D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EC2EA-EFCE-4A85-9C0D-B42C12B748D6}" type="datetimeFigureOut">
              <a:rPr lang="sr-Cyrl-RS" smtClean="0"/>
              <a:t>15.10.2026.</a:t>
            </a:fld>
            <a:endParaRPr lang="sr-Cyrl-R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EA2BA-4489-4B88-915D-7484EBF05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Cyrl-R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330E3-ED3E-4C11-8F42-7FE3A105B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DE885-59B8-40F5-BF9C-B312A9717447}" type="slidenum">
              <a:rPr lang="sr-Cyrl-RS" smtClean="0"/>
              <a:t>‹#›</a:t>
            </a:fld>
            <a:endParaRPr lang="sr-Cyrl-RS"/>
          </a:p>
        </p:txBody>
      </p:sp>
    </p:spTree>
    <p:extLst>
      <p:ext uri="{BB962C8B-B14F-4D97-AF65-F5344CB8AC3E}">
        <p14:creationId xmlns:p14="http://schemas.microsoft.com/office/powerpoint/2010/main" val="1311221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1F747-CDFB-4D55-A7EB-B2162FD37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r-Cyrl-R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5AA4D5-B85C-4EF0-B0F4-36D61DEFA7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F51F3-F13E-4773-B692-8D08D9B33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EC2EA-EFCE-4A85-9C0D-B42C12B748D6}" type="datetimeFigureOut">
              <a:rPr lang="sr-Cyrl-RS" smtClean="0"/>
              <a:t>15.10.2026.</a:t>
            </a:fld>
            <a:endParaRPr lang="sr-Cyrl-R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CAD76-21B7-454E-9EAE-EAC75F68F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Cyrl-R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9C4D4-6C02-4AE1-9286-059F17924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DE885-59B8-40F5-BF9C-B312A9717447}" type="slidenum">
              <a:rPr lang="sr-Cyrl-RS" smtClean="0"/>
              <a:t>‹#›</a:t>
            </a:fld>
            <a:endParaRPr lang="sr-Cyrl-RS"/>
          </a:p>
        </p:txBody>
      </p:sp>
    </p:spTree>
    <p:extLst>
      <p:ext uri="{BB962C8B-B14F-4D97-AF65-F5344CB8AC3E}">
        <p14:creationId xmlns:p14="http://schemas.microsoft.com/office/powerpoint/2010/main" val="1714238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3BAFB-EAAF-476F-BE6B-152A5EE7F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Cyrl-R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E5474-82E5-46F5-A56A-8080B85179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Cyrl-R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34B07-B67B-4208-8A99-CC34FA5C2A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Cyrl-R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2BC1F4-2975-4605-A3F1-49CE61A4E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EC2EA-EFCE-4A85-9C0D-B42C12B748D6}" type="datetimeFigureOut">
              <a:rPr lang="sr-Cyrl-RS" smtClean="0"/>
              <a:t>15.10.2026.</a:t>
            </a:fld>
            <a:endParaRPr lang="sr-Cyrl-R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27D79-BA5B-48ED-8EA1-A18C88AC3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Cyrl-R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C2D2CF-E9BA-497B-8AF2-B6377F6B6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DE885-59B8-40F5-BF9C-B312A9717447}" type="slidenum">
              <a:rPr lang="sr-Cyrl-RS" smtClean="0"/>
              <a:t>‹#›</a:t>
            </a:fld>
            <a:endParaRPr lang="sr-Cyrl-RS"/>
          </a:p>
        </p:txBody>
      </p:sp>
    </p:spTree>
    <p:extLst>
      <p:ext uri="{BB962C8B-B14F-4D97-AF65-F5344CB8AC3E}">
        <p14:creationId xmlns:p14="http://schemas.microsoft.com/office/powerpoint/2010/main" val="1935155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518E2-3C74-49FF-94EB-720935F8D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r-Cyrl-R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D232CE-7710-4EF3-86D9-2469690E3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C4DE0E-35DB-4559-91B4-5C16A11F68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Cyrl-R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4E038C-F981-4EBD-AE4A-07107B29F8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501324-17AB-4594-8F18-DF281AC6DE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Cyrl-R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B3F8E4-E359-413B-9C43-9B51E34E1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EC2EA-EFCE-4A85-9C0D-B42C12B748D6}" type="datetimeFigureOut">
              <a:rPr lang="sr-Cyrl-RS" smtClean="0"/>
              <a:t>15.10.2026.</a:t>
            </a:fld>
            <a:endParaRPr lang="sr-Cyrl-R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BC6F65-5D25-438F-8CDD-6F3DB5263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Cyrl-R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E79B77-5873-4DE7-88D6-9978E7129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DE885-59B8-40F5-BF9C-B312A9717447}" type="slidenum">
              <a:rPr lang="sr-Cyrl-RS" smtClean="0"/>
              <a:t>‹#›</a:t>
            </a:fld>
            <a:endParaRPr lang="sr-Cyrl-RS"/>
          </a:p>
        </p:txBody>
      </p:sp>
    </p:spTree>
    <p:extLst>
      <p:ext uri="{BB962C8B-B14F-4D97-AF65-F5344CB8AC3E}">
        <p14:creationId xmlns:p14="http://schemas.microsoft.com/office/powerpoint/2010/main" val="1988445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AB6A2-C8B6-4E6A-B295-6B847F82D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Cyrl-R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0921CE-0B77-4DE4-91FE-D840C95AB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EC2EA-EFCE-4A85-9C0D-B42C12B748D6}" type="datetimeFigureOut">
              <a:rPr lang="sr-Cyrl-RS" smtClean="0"/>
              <a:t>15.10.2026.</a:t>
            </a:fld>
            <a:endParaRPr lang="sr-Cyrl-R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5CF006-4CA0-43A8-AA56-22A31221F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Cyrl-R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17E9FF-BBAF-4182-8A37-4765256F3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DE885-59B8-40F5-BF9C-B312A9717447}" type="slidenum">
              <a:rPr lang="sr-Cyrl-RS" smtClean="0"/>
              <a:t>‹#›</a:t>
            </a:fld>
            <a:endParaRPr lang="sr-Cyrl-RS"/>
          </a:p>
        </p:txBody>
      </p:sp>
    </p:spTree>
    <p:extLst>
      <p:ext uri="{BB962C8B-B14F-4D97-AF65-F5344CB8AC3E}">
        <p14:creationId xmlns:p14="http://schemas.microsoft.com/office/powerpoint/2010/main" val="1398440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ED981A-1505-4CEB-ABE9-E7301F2A8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EC2EA-EFCE-4A85-9C0D-B42C12B748D6}" type="datetimeFigureOut">
              <a:rPr lang="sr-Cyrl-RS" smtClean="0"/>
              <a:t>15.10.2026.</a:t>
            </a:fld>
            <a:endParaRPr lang="sr-Cyrl-R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8B5233-DF1C-4596-92C6-8ACEF9380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Cyrl-R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56C475-9C73-47F4-864B-59C7E194A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DE885-59B8-40F5-BF9C-B312A9717447}" type="slidenum">
              <a:rPr lang="sr-Cyrl-RS" smtClean="0"/>
              <a:t>‹#›</a:t>
            </a:fld>
            <a:endParaRPr lang="sr-Cyrl-RS"/>
          </a:p>
        </p:txBody>
      </p:sp>
    </p:spTree>
    <p:extLst>
      <p:ext uri="{BB962C8B-B14F-4D97-AF65-F5344CB8AC3E}">
        <p14:creationId xmlns:p14="http://schemas.microsoft.com/office/powerpoint/2010/main" val="897650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BDDD8-E4E0-4F3A-BFF7-340B7313E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r-Cyrl-R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267AF-924B-4DAC-986A-BFB6D4F44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Cyrl-R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452DDD-37ED-4EF4-AF2B-65E4A39EC6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11F4C8-24BC-4475-9A42-83EE2CDF1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EC2EA-EFCE-4A85-9C0D-B42C12B748D6}" type="datetimeFigureOut">
              <a:rPr lang="sr-Cyrl-RS" smtClean="0"/>
              <a:t>15.10.2026.</a:t>
            </a:fld>
            <a:endParaRPr lang="sr-Cyrl-R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684B63-E82C-476F-940B-C969D6F86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Cyrl-R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421DC2-DDA1-4E98-AD28-63FE3DA6F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DE885-59B8-40F5-BF9C-B312A9717447}" type="slidenum">
              <a:rPr lang="sr-Cyrl-RS" smtClean="0"/>
              <a:t>‹#›</a:t>
            </a:fld>
            <a:endParaRPr lang="sr-Cyrl-RS"/>
          </a:p>
        </p:txBody>
      </p:sp>
    </p:spTree>
    <p:extLst>
      <p:ext uri="{BB962C8B-B14F-4D97-AF65-F5344CB8AC3E}">
        <p14:creationId xmlns:p14="http://schemas.microsoft.com/office/powerpoint/2010/main" val="2698279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27AFE-4809-4EA1-8198-5980B58EB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r-Cyrl-R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4B30EB-B9F1-47CE-8683-5EB1B92714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r-Cyrl-R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3EA93E-5C45-48AD-9C94-EB0816CDE0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5786B1-B378-49E5-8F1E-04C21D8B7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EC2EA-EFCE-4A85-9C0D-B42C12B748D6}" type="datetimeFigureOut">
              <a:rPr lang="sr-Cyrl-RS" smtClean="0"/>
              <a:t>15.10.2026.</a:t>
            </a:fld>
            <a:endParaRPr lang="sr-Cyrl-R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122A99-46E5-452B-BD51-8DF038EEE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Cyrl-R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5305F4-F923-40CB-9EBD-ABCECE348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DE885-59B8-40F5-BF9C-B312A9717447}" type="slidenum">
              <a:rPr lang="sr-Cyrl-RS" smtClean="0"/>
              <a:t>‹#›</a:t>
            </a:fld>
            <a:endParaRPr lang="sr-Cyrl-RS"/>
          </a:p>
        </p:txBody>
      </p:sp>
    </p:spTree>
    <p:extLst>
      <p:ext uri="{BB962C8B-B14F-4D97-AF65-F5344CB8AC3E}">
        <p14:creationId xmlns:p14="http://schemas.microsoft.com/office/powerpoint/2010/main" val="304376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4B26A-6E9F-4336-8A7C-04E908F9B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Cyrl-R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F8F11B-EC57-490E-B756-6B35AF90B5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Cyrl-R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C81FB-6B1A-4263-970E-80686D646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EC2EA-EFCE-4A85-9C0D-B42C12B748D6}" type="datetimeFigureOut">
              <a:rPr lang="sr-Cyrl-RS" smtClean="0"/>
              <a:t>15.10.2026.</a:t>
            </a:fld>
            <a:endParaRPr lang="sr-Cyrl-R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096A58-9C45-4F14-B46D-4F5CED5F5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Cyrl-R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B428C9-1C75-42D4-BE59-E479A7CB6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DE885-59B8-40F5-BF9C-B312A9717447}" type="slidenum">
              <a:rPr lang="sr-Cyrl-RS" smtClean="0"/>
              <a:t>‹#›</a:t>
            </a:fld>
            <a:endParaRPr lang="sr-Cyrl-RS"/>
          </a:p>
        </p:txBody>
      </p:sp>
    </p:spTree>
    <p:extLst>
      <p:ext uri="{BB962C8B-B14F-4D97-AF65-F5344CB8AC3E}">
        <p14:creationId xmlns:p14="http://schemas.microsoft.com/office/powerpoint/2010/main" val="188576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6C24BE-93EE-4048-A86F-0DBEC2C6D6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r-Cyrl-R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4553FC-A8E1-4C7B-A765-BA44F43CC4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Cyrl-R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D55685-0291-4908-8063-7C0F4532E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EC2EA-EFCE-4A85-9C0D-B42C12B748D6}" type="datetimeFigureOut">
              <a:rPr lang="sr-Cyrl-RS" smtClean="0"/>
              <a:t>15.10.2026.</a:t>
            </a:fld>
            <a:endParaRPr lang="sr-Cyrl-R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A9E01-D74C-4C05-B6D3-FA87B8005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Cyrl-R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C90EF-FD8D-4FBA-9741-3E935F17D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DE885-59B8-40F5-BF9C-B312A9717447}" type="slidenum">
              <a:rPr lang="sr-Cyrl-RS" smtClean="0"/>
              <a:t>‹#›</a:t>
            </a:fld>
            <a:endParaRPr lang="sr-Cyrl-RS"/>
          </a:p>
        </p:txBody>
      </p:sp>
    </p:spTree>
    <p:extLst>
      <p:ext uri="{BB962C8B-B14F-4D97-AF65-F5344CB8AC3E}">
        <p14:creationId xmlns:p14="http://schemas.microsoft.com/office/powerpoint/2010/main" val="2914686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93586A-5639-40EA-A819-88D0E449E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r-Cyrl-R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AC0916-512E-48A7-837E-9D2FA55C3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Cyrl-R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FF6B2-903C-4F04-BDC7-04B2C0E03A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6EC2EA-EFCE-4A85-9C0D-B42C12B748D6}" type="datetimeFigureOut">
              <a:rPr lang="sr-Cyrl-RS" smtClean="0"/>
              <a:t>15.10.2026.</a:t>
            </a:fld>
            <a:endParaRPr lang="sr-Cyrl-R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F747E8-D883-49DA-9E7D-62CE4BD740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r-Cyrl-R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5AF98-6A16-46B0-8DD5-0D576FA26D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DE885-59B8-40F5-BF9C-B312A9717447}" type="slidenum">
              <a:rPr lang="sr-Cyrl-RS" smtClean="0"/>
              <a:t>‹#›</a:t>
            </a:fld>
            <a:endParaRPr lang="sr-Cyrl-RS"/>
          </a:p>
        </p:txBody>
      </p:sp>
    </p:spTree>
    <p:extLst>
      <p:ext uri="{BB962C8B-B14F-4D97-AF65-F5344CB8AC3E}">
        <p14:creationId xmlns:p14="http://schemas.microsoft.com/office/powerpoint/2010/main" val="3270314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3.png"/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DFD3A1-EB71-4824-A826-EF275CDF8D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593" y="0"/>
            <a:ext cx="12615333" cy="70961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36FB73-83A2-48F4-8676-24613C81A4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8593" y="2119783"/>
            <a:ext cx="4893684" cy="1309217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7000" dirty="0" err="1">
                <a:solidFill>
                  <a:srgbClr val="ED7D31"/>
                </a:solidFill>
                <a:latin typeface="Arial Black" panose="020B0A04020102020204" pitchFamily="34" charset="0"/>
              </a:rPr>
              <a:t>RestAPI</a:t>
            </a:r>
            <a:endParaRPr lang="sr-Cyrl-RS" sz="7000" dirty="0">
              <a:solidFill>
                <a:srgbClr val="ED7D31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7C8D04-B665-4BFE-84EC-DFC1284DEE60}"/>
              </a:ext>
            </a:extLst>
          </p:cNvPr>
          <p:cNvSpPr/>
          <p:nvPr/>
        </p:nvSpPr>
        <p:spPr>
          <a:xfrm rot="1572022">
            <a:off x="-934818" y="-1207369"/>
            <a:ext cx="2247859" cy="62921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Cyrl-R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C8C4DCD-EE29-40E9-80A5-38F5B18BDA49}"/>
              </a:ext>
            </a:extLst>
          </p:cNvPr>
          <p:cNvSpPr txBox="1">
            <a:spLocks/>
          </p:cNvSpPr>
          <p:nvPr/>
        </p:nvSpPr>
        <p:spPr>
          <a:xfrm>
            <a:off x="968593" y="3283575"/>
            <a:ext cx="4142509" cy="584707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 fontScale="4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>
                <a:solidFill>
                  <a:schemeClr val="bg1"/>
                </a:solidFill>
                <a:latin typeface="Arial Black" panose="020B0A04020102020204" pitchFamily="34" charset="0"/>
              </a:rPr>
              <a:t>Backend </a:t>
            </a:r>
            <a:r>
              <a:rPr lang="en-US" sz="6600" dirty="0" err="1">
                <a:solidFill>
                  <a:schemeClr val="bg1"/>
                </a:solidFill>
                <a:latin typeface="Arial Black" panose="020B0A04020102020204" pitchFamily="34" charset="0"/>
              </a:rPr>
              <a:t>Projekat</a:t>
            </a:r>
            <a:endParaRPr lang="sr-Cyrl-RS" sz="66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5A41766-9957-4D09-94E6-55870BA33D19}"/>
              </a:ext>
            </a:extLst>
          </p:cNvPr>
          <p:cNvSpPr txBox="1">
            <a:spLocks/>
          </p:cNvSpPr>
          <p:nvPr/>
        </p:nvSpPr>
        <p:spPr>
          <a:xfrm>
            <a:off x="-31431" y="6552726"/>
            <a:ext cx="2254119" cy="279716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By Nikola Tasić</a:t>
            </a:r>
            <a:endParaRPr lang="sr-Cyrl-RS" sz="6600" dirty="0">
              <a:solidFill>
                <a:schemeClr val="accent3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1026" name="Picture 2" descr="INIT Technologies – Fairs PKS">
            <a:extLst>
              <a:ext uri="{FF2B5EF4-FFF2-40B4-BE49-F238E27FC236}">
                <a16:creationId xmlns:a16="http://schemas.microsoft.com/office/drawing/2014/main" id="{2D5FEE06-4CF0-4B7E-8197-A0F3E865E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170" y="156692"/>
            <a:ext cx="2714206" cy="672625"/>
          </a:xfrm>
          <a:prstGeom prst="rect">
            <a:avLst/>
          </a:prstGeom>
          <a:noFill/>
          <a:effectLst>
            <a:innerShdw blurRad="63500" dist="50800" dir="13500000">
              <a:prstClr val="black">
                <a:alpha val="50000"/>
              </a:prst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048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6FB73-83A2-48F4-8676-24613C81A4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2050" y="204317"/>
            <a:ext cx="10743781" cy="1309217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7000" dirty="0">
                <a:solidFill>
                  <a:srgbClr val="ED7D31"/>
                </a:solidFill>
                <a:latin typeface="Arial Black" panose="020B0A04020102020204" pitchFamily="34" charset="0"/>
              </a:rPr>
              <a:t>O PROJEKTU</a:t>
            </a:r>
            <a:endParaRPr lang="sr-Cyrl-RS" sz="7000" dirty="0">
              <a:solidFill>
                <a:srgbClr val="ED7D3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C8C4DCD-EE29-40E9-80A5-38F5B18BDA49}"/>
              </a:ext>
            </a:extLst>
          </p:cNvPr>
          <p:cNvSpPr txBox="1">
            <a:spLocks/>
          </p:cNvSpPr>
          <p:nvPr/>
        </p:nvSpPr>
        <p:spPr>
          <a:xfrm>
            <a:off x="1724026" y="2347313"/>
            <a:ext cx="9791700" cy="470535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Šta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je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cilj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projekta</a:t>
            </a:r>
            <a:endParaRPr lang="en-U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Koje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tehnologije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su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korišćene</a:t>
            </a:r>
            <a:endParaRPr lang="en-U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algn="l">
              <a:lnSpc>
                <a:spcPct val="150000"/>
              </a:lnSpc>
            </a:pPr>
            <a:endParaRPr lang="en-U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Tok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izrade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projekta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(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ukratko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)</a:t>
            </a:r>
            <a:endParaRPr lang="sr-Cyrl-R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B0F5B11-2A9D-457C-9E14-8DD907308135}"/>
              </a:ext>
            </a:extLst>
          </p:cNvPr>
          <p:cNvGrpSpPr/>
          <p:nvPr/>
        </p:nvGrpSpPr>
        <p:grpSpPr>
          <a:xfrm>
            <a:off x="-934818" y="-1207369"/>
            <a:ext cx="3935194" cy="6292184"/>
            <a:chOff x="-934818" y="-1207369"/>
            <a:chExt cx="3935194" cy="62921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7C8D04-B665-4BFE-84EC-DFC1284DEE60}"/>
                </a:ext>
              </a:extLst>
            </p:cNvPr>
            <p:cNvSpPr/>
            <p:nvPr/>
          </p:nvSpPr>
          <p:spPr>
            <a:xfrm rot="1572022">
              <a:off x="-934818" y="-1207369"/>
              <a:ext cx="2247859" cy="6292184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r-Cyrl-RS"/>
            </a:p>
          </p:txBody>
        </p:sp>
        <p:pic>
          <p:nvPicPr>
            <p:cNvPr id="1026" name="Picture 2" descr="INIT Technologies – Fairs PKS">
              <a:extLst>
                <a:ext uri="{FF2B5EF4-FFF2-40B4-BE49-F238E27FC236}">
                  <a16:creationId xmlns:a16="http://schemas.microsoft.com/office/drawing/2014/main" id="{2D5FEE06-4CF0-4B7E-8197-A0F3E865E7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170" y="156692"/>
              <a:ext cx="2714206" cy="672625"/>
            </a:xfrm>
            <a:prstGeom prst="rect">
              <a:avLst/>
            </a:prstGeom>
            <a:noFill/>
            <a:effectLst>
              <a:innerShdw blurRad="63500" dist="50800" dir="13500000">
                <a:prstClr val="black">
                  <a:alpha val="50000"/>
                </a:prstClr>
              </a:inn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8B573A2C-D231-48D2-80B3-71CE239D4323}"/>
              </a:ext>
            </a:extLst>
          </p:cNvPr>
          <p:cNvSpPr/>
          <p:nvPr/>
        </p:nvSpPr>
        <p:spPr>
          <a:xfrm rot="1572022">
            <a:off x="10809507" y="1902156"/>
            <a:ext cx="2247859" cy="62921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Cyrl-RS"/>
          </a:p>
        </p:txBody>
      </p:sp>
      <p:sp>
        <p:nvSpPr>
          <p:cNvPr id="3" name="AutoShape 2" descr="Dotnet Vector SVG Icon - SVG Repo">
            <a:extLst>
              <a:ext uri="{FF2B5EF4-FFF2-40B4-BE49-F238E27FC236}">
                <a16:creationId xmlns:a16="http://schemas.microsoft.com/office/drawing/2014/main" id="{8731E42B-967B-48CD-92FB-2F8A02652C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r-Cyrl-RS"/>
          </a:p>
        </p:txBody>
      </p:sp>
      <p:sp>
        <p:nvSpPr>
          <p:cNvPr id="4" name="AutoShape 4" descr="Dotnet Vector SVG Icon - SVG Repo">
            <a:extLst>
              <a:ext uri="{FF2B5EF4-FFF2-40B4-BE49-F238E27FC236}">
                <a16:creationId xmlns:a16="http://schemas.microsoft.com/office/drawing/2014/main" id="{90C3AB03-2827-4FDD-8469-872D0BC578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r-Cyrl-RS"/>
          </a:p>
        </p:txBody>
      </p:sp>
      <p:pic>
        <p:nvPicPr>
          <p:cNvPr id="2056" name="Picture 8" descr="Dotnet Logo PNG Transparent &amp; SVG Vector - Freebie Supply">
            <a:extLst>
              <a:ext uri="{FF2B5EF4-FFF2-40B4-BE49-F238E27FC236}">
                <a16:creationId xmlns:a16="http://schemas.microsoft.com/office/drawing/2014/main" id="{821D9E20-5D03-4CA5-BAB4-7C8D523516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8509" y="4130869"/>
            <a:ext cx="734281" cy="700087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MQTT - Bindings | openHAB">
            <a:extLst>
              <a:ext uri="{FF2B5EF4-FFF2-40B4-BE49-F238E27FC236}">
                <a16:creationId xmlns:a16="http://schemas.microsoft.com/office/drawing/2014/main" id="{6C56E97B-5B1E-4860-8EA6-B01AD9012E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5369" y="4130869"/>
            <a:ext cx="823244" cy="744458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Docker - Free brands and logotypes icons">
            <a:extLst>
              <a:ext uri="{FF2B5EF4-FFF2-40B4-BE49-F238E27FC236}">
                <a16:creationId xmlns:a16="http://schemas.microsoft.com/office/drawing/2014/main" id="{5B131074-F29A-4929-8737-F84076AE3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3182" y="4130869"/>
            <a:ext cx="700087" cy="700087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MariaDB · GitHub">
            <a:extLst>
              <a:ext uri="{FF2B5EF4-FFF2-40B4-BE49-F238E27FC236}">
                <a16:creationId xmlns:a16="http://schemas.microsoft.com/office/drawing/2014/main" id="{2A3CA8DF-13EA-4F55-BD6F-F12B3FBDB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7838" y="4091476"/>
            <a:ext cx="823244" cy="823244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 descr="How to install Redis configuration on HestiaCP – Ultratech Solution">
            <a:extLst>
              <a:ext uri="{FF2B5EF4-FFF2-40B4-BE49-F238E27FC236}">
                <a16:creationId xmlns:a16="http://schemas.microsoft.com/office/drawing/2014/main" id="{0FC34037-4292-4787-A971-F9FEBBB016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9812" y="4091476"/>
            <a:ext cx="928562" cy="783851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0" name="Picture 22" descr="Download Free Information Icons in PNG &amp; SVG | Magnific (formerly Freepik)">
            <a:extLst>
              <a:ext uri="{FF2B5EF4-FFF2-40B4-BE49-F238E27FC236}">
                <a16:creationId xmlns:a16="http://schemas.microsoft.com/office/drawing/2014/main" id="{03644D4E-C128-4CFC-96D2-9F5C09B1C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8968" y="5257800"/>
            <a:ext cx="1319682" cy="1319682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2" name="Picture 24" descr="Github Logo - Free social media icons">
            <a:extLst>
              <a:ext uri="{FF2B5EF4-FFF2-40B4-BE49-F238E27FC236}">
                <a16:creationId xmlns:a16="http://schemas.microsoft.com/office/drawing/2014/main" id="{FF29FF52-AFD1-48FF-9326-DD507DA9CA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8317" y="4075227"/>
            <a:ext cx="800100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4902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3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3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20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300" fill="hold"/>
                                        <p:tgtEl>
                                          <p:spTgt spid="2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00" fill="hold"/>
                                        <p:tgtEl>
                                          <p:spTgt spid="2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20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300" fill="hold"/>
                                        <p:tgtEl>
                                          <p:spTgt spid="2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300" fill="hold"/>
                                        <p:tgtEl>
                                          <p:spTgt spid="2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20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300" fill="hold"/>
                                        <p:tgtEl>
                                          <p:spTgt spid="2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00" fill="hold"/>
                                        <p:tgtEl>
                                          <p:spTgt spid="20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300" fill="hold"/>
                                        <p:tgtEl>
                                          <p:spTgt spid="20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00" fill="hold"/>
                                        <p:tgtEl>
                                          <p:spTgt spid="2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20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300" fill="hold"/>
                                        <p:tgtEl>
                                          <p:spTgt spid="20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300" fill="hold"/>
                                        <p:tgtEl>
                                          <p:spTgt spid="20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3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3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6FB73-83A2-48F4-8676-24613C81A4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6949" y="204317"/>
            <a:ext cx="9638881" cy="1309217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7000" dirty="0">
                <a:solidFill>
                  <a:srgbClr val="ED7D31"/>
                </a:solidFill>
                <a:latin typeface="Arial Black" panose="020B0A04020102020204" pitchFamily="34" charset="0"/>
              </a:rPr>
              <a:t>MQTT PROTOKOL</a:t>
            </a:r>
            <a:endParaRPr lang="sr-Cyrl-RS" sz="7000" dirty="0">
              <a:solidFill>
                <a:srgbClr val="ED7D31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7C8D04-B665-4BFE-84EC-DFC1284DEE60}"/>
              </a:ext>
            </a:extLst>
          </p:cNvPr>
          <p:cNvSpPr/>
          <p:nvPr/>
        </p:nvSpPr>
        <p:spPr>
          <a:xfrm rot="1572022">
            <a:off x="-934818" y="-1207369"/>
            <a:ext cx="2247859" cy="62921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Cyrl-R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C8C4DCD-EE29-40E9-80A5-38F5B18BDA49}"/>
              </a:ext>
            </a:extLst>
          </p:cNvPr>
          <p:cNvSpPr txBox="1">
            <a:spLocks/>
          </p:cNvSpPr>
          <p:nvPr/>
        </p:nvSpPr>
        <p:spPr>
          <a:xfrm>
            <a:off x="1857376" y="1600200"/>
            <a:ext cx="9791700" cy="470535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O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protokolu</a:t>
            </a:r>
            <a:endParaRPr lang="en-U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Šta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sadrži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protocol</a:t>
            </a: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Objašnjenje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pojmova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:</a:t>
            </a:r>
          </a:p>
        </p:txBody>
      </p:sp>
      <p:pic>
        <p:nvPicPr>
          <p:cNvPr id="1026" name="Picture 2" descr="INIT Technologies – Fairs PKS">
            <a:extLst>
              <a:ext uri="{FF2B5EF4-FFF2-40B4-BE49-F238E27FC236}">
                <a16:creationId xmlns:a16="http://schemas.microsoft.com/office/drawing/2014/main" id="{2D5FEE06-4CF0-4B7E-8197-A0F3E865E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170" y="156692"/>
            <a:ext cx="2714206" cy="672625"/>
          </a:xfrm>
          <a:prstGeom prst="rect">
            <a:avLst/>
          </a:prstGeom>
          <a:noFill/>
          <a:effectLst>
            <a:innerShdw blurRad="63500" dist="50800" dir="13500000">
              <a:prstClr val="black">
                <a:alpha val="50000"/>
              </a:prst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B573A2C-D231-48D2-80B3-71CE239D4323}"/>
              </a:ext>
            </a:extLst>
          </p:cNvPr>
          <p:cNvSpPr/>
          <p:nvPr/>
        </p:nvSpPr>
        <p:spPr>
          <a:xfrm rot="1572022">
            <a:off x="10809507" y="1902156"/>
            <a:ext cx="2247859" cy="62921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Cyrl-RS"/>
          </a:p>
        </p:txBody>
      </p:sp>
      <p:sp>
        <p:nvSpPr>
          <p:cNvPr id="3" name="AutoShape 2" descr="Dotnet Vector SVG Icon - SVG Repo">
            <a:extLst>
              <a:ext uri="{FF2B5EF4-FFF2-40B4-BE49-F238E27FC236}">
                <a16:creationId xmlns:a16="http://schemas.microsoft.com/office/drawing/2014/main" id="{8731E42B-967B-48CD-92FB-2F8A02652C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r-Cyrl-RS"/>
          </a:p>
        </p:txBody>
      </p:sp>
      <p:sp>
        <p:nvSpPr>
          <p:cNvPr id="4" name="AutoShape 4" descr="Dotnet Vector SVG Icon - SVG Repo">
            <a:extLst>
              <a:ext uri="{FF2B5EF4-FFF2-40B4-BE49-F238E27FC236}">
                <a16:creationId xmlns:a16="http://schemas.microsoft.com/office/drawing/2014/main" id="{90C3AB03-2827-4FDD-8469-872D0BC578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r-Cyrl-R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DAAEECC0-5A3E-47A6-BBA6-C864923F9FB8}"/>
              </a:ext>
            </a:extLst>
          </p:cNvPr>
          <p:cNvSpPr txBox="1">
            <a:spLocks/>
          </p:cNvSpPr>
          <p:nvPr/>
        </p:nvSpPr>
        <p:spPr>
          <a:xfrm>
            <a:off x="2474190" y="4168512"/>
            <a:ext cx="9791700" cy="470535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00000"/>
              </a:lnSpc>
              <a:buFontTx/>
              <a:buChar char="-"/>
            </a:pPr>
            <a:r>
              <a:rPr lang="en-US" sz="3000" dirty="0">
                <a:solidFill>
                  <a:schemeClr val="bg1"/>
                </a:solidFill>
                <a:latin typeface="Arial Black" panose="020B0A04020102020204" pitchFamily="34" charset="0"/>
              </a:rPr>
              <a:t>Topic (</a:t>
            </a:r>
            <a:r>
              <a:rPr lang="en-US" sz="3000" dirty="0" err="1">
                <a:solidFill>
                  <a:schemeClr val="bg1"/>
                </a:solidFill>
                <a:latin typeface="Arial Black" panose="020B0A04020102020204" pitchFamily="34" charset="0"/>
              </a:rPr>
              <a:t>kuca</a:t>
            </a:r>
            <a:r>
              <a:rPr lang="en-US" sz="3000" dirty="0">
                <a:solidFill>
                  <a:schemeClr val="bg1"/>
                </a:solidFill>
                <a:latin typeface="Arial Black" panose="020B0A04020102020204" pitchFamily="34" charset="0"/>
              </a:rPr>
              <a:t>/soba/</a:t>
            </a:r>
            <a:r>
              <a:rPr lang="en-US" sz="3000" dirty="0" err="1">
                <a:solidFill>
                  <a:schemeClr val="bg1"/>
                </a:solidFill>
                <a:latin typeface="Arial Black" panose="020B0A04020102020204" pitchFamily="34" charset="0"/>
              </a:rPr>
              <a:t>temperatura</a:t>
            </a:r>
            <a:r>
              <a:rPr lang="en-US" sz="3000" dirty="0">
                <a:solidFill>
                  <a:schemeClr val="bg1"/>
                </a:solidFill>
                <a:latin typeface="Arial Black" panose="020B0A04020102020204" pitchFamily="34" charset="0"/>
              </a:rPr>
              <a:t>)</a:t>
            </a:r>
          </a:p>
          <a:p>
            <a:pPr marL="457200" indent="-457200" algn="l">
              <a:lnSpc>
                <a:spcPct val="100000"/>
              </a:lnSpc>
              <a:buFontTx/>
              <a:buChar char="-"/>
            </a:pPr>
            <a:r>
              <a:rPr lang="en-US" sz="3000" dirty="0">
                <a:solidFill>
                  <a:schemeClr val="bg1"/>
                </a:solidFill>
                <a:latin typeface="Arial Black" panose="020B0A04020102020204" pitchFamily="34" charset="0"/>
              </a:rPr>
              <a:t>Wildcard (</a:t>
            </a:r>
            <a:r>
              <a:rPr lang="en-US" sz="3000" dirty="0" err="1">
                <a:solidFill>
                  <a:schemeClr val="bg1"/>
                </a:solidFill>
                <a:latin typeface="Arial Black" panose="020B0A04020102020204" pitchFamily="34" charset="0"/>
              </a:rPr>
              <a:t>kuca</a:t>
            </a:r>
            <a:r>
              <a:rPr lang="en-US" sz="3000" dirty="0">
                <a:solidFill>
                  <a:schemeClr val="bg1"/>
                </a:solidFill>
                <a:latin typeface="Arial Black" panose="020B0A04020102020204" pitchFamily="34" charset="0"/>
              </a:rPr>
              <a:t>/+/test </a:t>
            </a:r>
            <a:r>
              <a:rPr lang="en-US" sz="3000" dirty="0" err="1">
                <a:solidFill>
                  <a:schemeClr val="bg1"/>
                </a:solidFill>
                <a:latin typeface="Arial Black" panose="020B0A04020102020204" pitchFamily="34" charset="0"/>
              </a:rPr>
              <a:t>ili</a:t>
            </a:r>
            <a:r>
              <a:rPr lang="en-US" sz="30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Arial Black" panose="020B0A04020102020204" pitchFamily="34" charset="0"/>
              </a:rPr>
              <a:t>kuca</a:t>
            </a:r>
            <a:r>
              <a:rPr lang="en-US" sz="3000" dirty="0">
                <a:solidFill>
                  <a:schemeClr val="bg1"/>
                </a:solidFill>
                <a:latin typeface="Arial Black" panose="020B0A04020102020204" pitchFamily="34" charset="0"/>
              </a:rPr>
              <a:t>/#)</a:t>
            </a:r>
          </a:p>
          <a:p>
            <a:pPr marL="457200" indent="-457200" algn="l">
              <a:lnSpc>
                <a:spcPct val="100000"/>
              </a:lnSpc>
              <a:buFontTx/>
              <a:buChar char="-"/>
            </a:pPr>
            <a:r>
              <a:rPr lang="en-US" sz="3000" dirty="0">
                <a:solidFill>
                  <a:schemeClr val="bg1"/>
                </a:solidFill>
                <a:latin typeface="Arial Black" panose="020B0A04020102020204" pitchFamily="34" charset="0"/>
              </a:rPr>
              <a:t>QoS </a:t>
            </a:r>
          </a:p>
          <a:p>
            <a:pPr marL="457200" indent="-457200" algn="l">
              <a:lnSpc>
                <a:spcPct val="100000"/>
              </a:lnSpc>
              <a:buFontTx/>
              <a:buChar char="-"/>
            </a:pPr>
            <a:r>
              <a:rPr lang="en-US" sz="3000" dirty="0">
                <a:solidFill>
                  <a:schemeClr val="bg1"/>
                </a:solidFill>
                <a:latin typeface="Arial Black" panose="020B0A04020102020204" pitchFamily="34" charset="0"/>
              </a:rPr>
              <a:t>Retain</a:t>
            </a:r>
          </a:p>
        </p:txBody>
      </p:sp>
      <p:pic>
        <p:nvPicPr>
          <p:cNvPr id="15" name="Picture 10" descr="MQTT - Bindings | openHAB">
            <a:extLst>
              <a:ext uri="{FF2B5EF4-FFF2-40B4-BE49-F238E27FC236}">
                <a16:creationId xmlns:a16="http://schemas.microsoft.com/office/drawing/2014/main" id="{52EA5A1C-1A54-41F7-9639-C584B8DAE0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2402" y="5410200"/>
            <a:ext cx="1375081" cy="1243483"/>
          </a:xfrm>
          <a:prstGeom prst="rect">
            <a:avLst/>
          </a:prstGeom>
          <a:noFill/>
          <a:effectLst>
            <a:innerShdw blurRad="63500" dist="50800" dir="13500000">
              <a:prstClr val="black">
                <a:alpha val="50000"/>
              </a:prst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8637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3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3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6FB73-83A2-48F4-8676-24613C81A4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6025" y="204317"/>
            <a:ext cx="9419806" cy="1595908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ED7D31"/>
                </a:solidFill>
                <a:latin typeface="Arial Black" panose="020B0A04020102020204" pitchFamily="34" charset="0"/>
              </a:rPr>
              <a:t>IMPLEMENTACIJA MQTT U PROJEKTU</a:t>
            </a:r>
            <a:endParaRPr lang="sr-Cyrl-RS" sz="4800" dirty="0">
              <a:solidFill>
                <a:srgbClr val="ED7D3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C8C4DCD-EE29-40E9-80A5-38F5B18BDA49}"/>
              </a:ext>
            </a:extLst>
          </p:cNvPr>
          <p:cNvSpPr txBox="1">
            <a:spLocks/>
          </p:cNvSpPr>
          <p:nvPr/>
        </p:nvSpPr>
        <p:spPr>
          <a:xfrm>
            <a:off x="2033378" y="2897787"/>
            <a:ext cx="9791700" cy="470535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Početna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implementacija</a:t>
            </a:r>
            <a:endParaRPr lang="en-U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Implementacija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u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kasnijim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projektima</a:t>
            </a:r>
            <a:endParaRPr lang="sr-Cyrl-R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169F84E-E206-4A3E-9ADD-ADB182D169BD}"/>
              </a:ext>
            </a:extLst>
          </p:cNvPr>
          <p:cNvGrpSpPr/>
          <p:nvPr/>
        </p:nvGrpSpPr>
        <p:grpSpPr>
          <a:xfrm>
            <a:off x="-934818" y="-1207369"/>
            <a:ext cx="3935194" cy="6292184"/>
            <a:chOff x="-934818" y="-1207369"/>
            <a:chExt cx="3935194" cy="62921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7C8D04-B665-4BFE-84EC-DFC1284DEE60}"/>
                </a:ext>
              </a:extLst>
            </p:cNvPr>
            <p:cNvSpPr/>
            <p:nvPr/>
          </p:nvSpPr>
          <p:spPr>
            <a:xfrm rot="1572022">
              <a:off x="-934818" y="-1207369"/>
              <a:ext cx="2247859" cy="6292184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r-Cyrl-RS"/>
            </a:p>
          </p:txBody>
        </p:sp>
        <p:pic>
          <p:nvPicPr>
            <p:cNvPr id="1026" name="Picture 2" descr="INIT Technologies – Fairs PKS">
              <a:extLst>
                <a:ext uri="{FF2B5EF4-FFF2-40B4-BE49-F238E27FC236}">
                  <a16:creationId xmlns:a16="http://schemas.microsoft.com/office/drawing/2014/main" id="{2D5FEE06-4CF0-4B7E-8197-A0F3E865E7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170" y="156692"/>
              <a:ext cx="2714206" cy="672625"/>
            </a:xfrm>
            <a:prstGeom prst="rect">
              <a:avLst/>
            </a:prstGeom>
            <a:noFill/>
            <a:effectLst>
              <a:innerShdw blurRad="63500" dist="50800" dir="13500000">
                <a:prstClr val="black">
                  <a:alpha val="50000"/>
                </a:prstClr>
              </a:inn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8B573A2C-D231-48D2-80B3-71CE239D4323}"/>
              </a:ext>
            </a:extLst>
          </p:cNvPr>
          <p:cNvSpPr/>
          <p:nvPr/>
        </p:nvSpPr>
        <p:spPr>
          <a:xfrm rot="1572022">
            <a:off x="10809507" y="1902156"/>
            <a:ext cx="2247859" cy="62921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Cyrl-RS"/>
          </a:p>
        </p:txBody>
      </p:sp>
      <p:sp>
        <p:nvSpPr>
          <p:cNvPr id="3" name="AutoShape 2" descr="Dotnet Vector SVG Icon - SVG Repo">
            <a:extLst>
              <a:ext uri="{FF2B5EF4-FFF2-40B4-BE49-F238E27FC236}">
                <a16:creationId xmlns:a16="http://schemas.microsoft.com/office/drawing/2014/main" id="{8731E42B-967B-48CD-92FB-2F8A02652C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r-Cyrl-RS"/>
          </a:p>
        </p:txBody>
      </p:sp>
      <p:sp>
        <p:nvSpPr>
          <p:cNvPr id="4" name="AutoShape 4" descr="Dotnet Vector SVG Icon - SVG Repo">
            <a:extLst>
              <a:ext uri="{FF2B5EF4-FFF2-40B4-BE49-F238E27FC236}">
                <a16:creationId xmlns:a16="http://schemas.microsoft.com/office/drawing/2014/main" id="{90C3AB03-2827-4FDD-8469-872D0BC578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r-Cyrl-RS"/>
          </a:p>
        </p:txBody>
      </p:sp>
      <p:pic>
        <p:nvPicPr>
          <p:cNvPr id="3074" name="Picture 2" descr="C sharp - Free ui icons">
            <a:extLst>
              <a:ext uri="{FF2B5EF4-FFF2-40B4-BE49-F238E27FC236}">
                <a16:creationId xmlns:a16="http://schemas.microsoft.com/office/drawing/2014/main" id="{A9E6085F-A621-4248-8F06-CEF6CA545B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027" y="5372100"/>
            <a:ext cx="1281583" cy="1281583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8201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3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6FB73-83A2-48F4-8676-24613C81A4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851" y="264296"/>
            <a:ext cx="9515056" cy="1595908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US" sz="5400" dirty="0">
                <a:solidFill>
                  <a:srgbClr val="ED7D31"/>
                </a:solidFill>
                <a:latin typeface="Arial Black" panose="020B0A04020102020204" pitchFamily="34" charset="0"/>
              </a:rPr>
              <a:t>PROJEKAT OD KOG JE SVE POČELO - </a:t>
            </a:r>
            <a:r>
              <a:rPr lang="en-US" sz="5400" dirty="0" err="1">
                <a:solidFill>
                  <a:srgbClr val="ED7D31"/>
                </a:solidFill>
                <a:latin typeface="Arial Black" panose="020B0A04020102020204" pitchFamily="34" charset="0"/>
              </a:rPr>
              <a:t>ConsoleApp</a:t>
            </a:r>
            <a:endParaRPr lang="sr-Cyrl-RS" sz="5400" dirty="0">
              <a:solidFill>
                <a:srgbClr val="ED7D3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C8C4DCD-EE29-40E9-80A5-38F5B18BDA49}"/>
              </a:ext>
            </a:extLst>
          </p:cNvPr>
          <p:cNvSpPr txBox="1">
            <a:spLocks/>
          </p:cNvSpPr>
          <p:nvPr/>
        </p:nvSpPr>
        <p:spPr>
          <a:xfrm>
            <a:off x="1504950" y="2905125"/>
            <a:ext cx="9791700" cy="470535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Šta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je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cilj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prvog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projekta</a:t>
            </a:r>
            <a:endParaRPr lang="en-U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Kako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je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ostvaren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cilj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projekta</a:t>
            </a:r>
            <a:endParaRPr lang="en-U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Funkcionalnosti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projekta</a:t>
            </a:r>
            <a:endParaRPr lang="sr-Cyrl-R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169F84E-E206-4A3E-9ADD-ADB182D169BD}"/>
              </a:ext>
            </a:extLst>
          </p:cNvPr>
          <p:cNvGrpSpPr/>
          <p:nvPr/>
        </p:nvGrpSpPr>
        <p:grpSpPr>
          <a:xfrm>
            <a:off x="-934818" y="-1207369"/>
            <a:ext cx="3935194" cy="6292184"/>
            <a:chOff x="-934818" y="-1207369"/>
            <a:chExt cx="3935194" cy="62921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7C8D04-B665-4BFE-84EC-DFC1284DEE60}"/>
                </a:ext>
              </a:extLst>
            </p:cNvPr>
            <p:cNvSpPr/>
            <p:nvPr/>
          </p:nvSpPr>
          <p:spPr>
            <a:xfrm rot="1572022">
              <a:off x="-934818" y="-1207369"/>
              <a:ext cx="2247859" cy="6292184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r-Cyrl-RS"/>
            </a:p>
          </p:txBody>
        </p:sp>
        <p:pic>
          <p:nvPicPr>
            <p:cNvPr id="1026" name="Picture 2" descr="INIT Technologies – Fairs PKS">
              <a:extLst>
                <a:ext uri="{FF2B5EF4-FFF2-40B4-BE49-F238E27FC236}">
                  <a16:creationId xmlns:a16="http://schemas.microsoft.com/office/drawing/2014/main" id="{2D5FEE06-4CF0-4B7E-8197-A0F3E865E7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170" y="156692"/>
              <a:ext cx="2714206" cy="672625"/>
            </a:xfrm>
            <a:prstGeom prst="rect">
              <a:avLst/>
            </a:prstGeom>
            <a:noFill/>
            <a:effectLst>
              <a:innerShdw blurRad="63500" dist="50800" dir="13500000">
                <a:prstClr val="black">
                  <a:alpha val="50000"/>
                </a:prstClr>
              </a:inn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8B573A2C-D231-48D2-80B3-71CE239D4323}"/>
              </a:ext>
            </a:extLst>
          </p:cNvPr>
          <p:cNvSpPr/>
          <p:nvPr/>
        </p:nvSpPr>
        <p:spPr>
          <a:xfrm rot="1572022">
            <a:off x="10809507" y="1902156"/>
            <a:ext cx="2247859" cy="62921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Cyrl-RS"/>
          </a:p>
        </p:txBody>
      </p:sp>
      <p:sp>
        <p:nvSpPr>
          <p:cNvPr id="3" name="AutoShape 2" descr="Dotnet Vector SVG Icon - SVG Repo">
            <a:extLst>
              <a:ext uri="{FF2B5EF4-FFF2-40B4-BE49-F238E27FC236}">
                <a16:creationId xmlns:a16="http://schemas.microsoft.com/office/drawing/2014/main" id="{8731E42B-967B-48CD-92FB-2F8A02652C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r-Cyrl-RS"/>
          </a:p>
        </p:txBody>
      </p:sp>
      <p:sp>
        <p:nvSpPr>
          <p:cNvPr id="4" name="AutoShape 4" descr="Dotnet Vector SVG Icon - SVG Repo">
            <a:extLst>
              <a:ext uri="{FF2B5EF4-FFF2-40B4-BE49-F238E27FC236}">
                <a16:creationId xmlns:a16="http://schemas.microsoft.com/office/drawing/2014/main" id="{90C3AB03-2827-4FDD-8469-872D0BC578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r-Cyrl-RS"/>
          </a:p>
        </p:txBody>
      </p:sp>
      <p:pic>
        <p:nvPicPr>
          <p:cNvPr id="5122" name="Picture 2" descr="Compare Terminal.app vs. Windows Terminal - Terminal Trove">
            <a:extLst>
              <a:ext uri="{FF2B5EF4-FFF2-40B4-BE49-F238E27FC236}">
                <a16:creationId xmlns:a16="http://schemas.microsoft.com/office/drawing/2014/main" id="{6988DBCA-6ECF-4665-9CA4-A535215B5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4925" y="5353050"/>
            <a:ext cx="1504950" cy="1504950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0683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3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3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6FB73-83A2-48F4-8676-24613C81A4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9825" y="166217"/>
            <a:ext cx="9496005" cy="961084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000" dirty="0">
                <a:solidFill>
                  <a:srgbClr val="ED7D31"/>
                </a:solidFill>
                <a:latin typeface="Arial Black" panose="020B0A04020102020204" pitchFamily="34" charset="0"/>
              </a:rPr>
              <a:t>KORAK DALJE - BACKEND</a:t>
            </a:r>
            <a:endParaRPr lang="sr-Cyrl-RS" sz="5000" dirty="0">
              <a:solidFill>
                <a:srgbClr val="ED7D3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C8C4DCD-EE29-40E9-80A5-38F5B18BDA49}"/>
              </a:ext>
            </a:extLst>
          </p:cNvPr>
          <p:cNvSpPr txBox="1">
            <a:spLocks/>
          </p:cNvSpPr>
          <p:nvPr/>
        </p:nvSpPr>
        <p:spPr>
          <a:xfrm>
            <a:off x="2929649" y="1164667"/>
            <a:ext cx="9791700" cy="961084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Ciljna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šema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komuikacije</a:t>
            </a:r>
            <a:endParaRPr lang="en-U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endParaRPr lang="sr-Cyrl-R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169F84E-E206-4A3E-9ADD-ADB182D169BD}"/>
              </a:ext>
            </a:extLst>
          </p:cNvPr>
          <p:cNvGrpSpPr/>
          <p:nvPr/>
        </p:nvGrpSpPr>
        <p:grpSpPr>
          <a:xfrm>
            <a:off x="-934818" y="-1207369"/>
            <a:ext cx="3935194" cy="6292184"/>
            <a:chOff x="-934818" y="-1207369"/>
            <a:chExt cx="3935194" cy="62921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7C8D04-B665-4BFE-84EC-DFC1284DEE60}"/>
                </a:ext>
              </a:extLst>
            </p:cNvPr>
            <p:cNvSpPr/>
            <p:nvPr/>
          </p:nvSpPr>
          <p:spPr>
            <a:xfrm rot="1572022">
              <a:off x="-934818" y="-1207369"/>
              <a:ext cx="2247859" cy="6292184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r-Cyrl-RS"/>
            </a:p>
          </p:txBody>
        </p:sp>
        <p:pic>
          <p:nvPicPr>
            <p:cNvPr id="1026" name="Picture 2" descr="INIT Technologies – Fairs PKS">
              <a:extLst>
                <a:ext uri="{FF2B5EF4-FFF2-40B4-BE49-F238E27FC236}">
                  <a16:creationId xmlns:a16="http://schemas.microsoft.com/office/drawing/2014/main" id="{2D5FEE06-4CF0-4B7E-8197-A0F3E865E7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170" y="156692"/>
              <a:ext cx="2714206" cy="672625"/>
            </a:xfrm>
            <a:prstGeom prst="rect">
              <a:avLst/>
            </a:prstGeom>
            <a:noFill/>
            <a:effectLst>
              <a:innerShdw blurRad="63500" dist="50800" dir="13500000">
                <a:prstClr val="black">
                  <a:alpha val="50000"/>
                </a:prstClr>
              </a:inn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8B573A2C-D231-48D2-80B3-71CE239D4323}"/>
              </a:ext>
            </a:extLst>
          </p:cNvPr>
          <p:cNvSpPr/>
          <p:nvPr/>
        </p:nvSpPr>
        <p:spPr>
          <a:xfrm rot="1572022">
            <a:off x="10809507" y="1902156"/>
            <a:ext cx="2247859" cy="62921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Cyrl-RS"/>
          </a:p>
        </p:txBody>
      </p:sp>
      <p:sp>
        <p:nvSpPr>
          <p:cNvPr id="3" name="AutoShape 2" descr="Dotnet Vector SVG Icon - SVG Repo">
            <a:extLst>
              <a:ext uri="{FF2B5EF4-FFF2-40B4-BE49-F238E27FC236}">
                <a16:creationId xmlns:a16="http://schemas.microsoft.com/office/drawing/2014/main" id="{8731E42B-967B-48CD-92FB-2F8A02652C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210175" y="351644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r-Cyrl-RS"/>
          </a:p>
        </p:txBody>
      </p:sp>
      <p:sp>
        <p:nvSpPr>
          <p:cNvPr id="4" name="AutoShape 4" descr="Dotnet Vector SVG Icon - SVG Repo">
            <a:extLst>
              <a:ext uri="{FF2B5EF4-FFF2-40B4-BE49-F238E27FC236}">
                <a16:creationId xmlns:a16="http://schemas.microsoft.com/office/drawing/2014/main" id="{90C3AB03-2827-4FDD-8469-872D0BC578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62575" y="366884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r-Cyrl-RS"/>
          </a:p>
        </p:txBody>
      </p:sp>
      <p:pic>
        <p:nvPicPr>
          <p:cNvPr id="6146" name="Picture 2" descr="Client - Free marketing icons">
            <a:extLst>
              <a:ext uri="{FF2B5EF4-FFF2-40B4-BE49-F238E27FC236}">
                <a16:creationId xmlns:a16="http://schemas.microsoft.com/office/drawing/2014/main" id="{1D9A77A0-A602-43A2-97C3-52415304A0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9063" y="2365592"/>
            <a:ext cx="722224" cy="722224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Backend - Free seo and web icons">
            <a:extLst>
              <a:ext uri="{FF2B5EF4-FFF2-40B4-BE49-F238E27FC236}">
                <a16:creationId xmlns:a16="http://schemas.microsoft.com/office/drawing/2014/main" id="{EBECAD86-2971-4E51-9060-916798AE7E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0224" y="3736090"/>
            <a:ext cx="779902" cy="779902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Database - Free seo and web icons">
            <a:extLst>
              <a:ext uri="{FF2B5EF4-FFF2-40B4-BE49-F238E27FC236}">
                <a16:creationId xmlns:a16="http://schemas.microsoft.com/office/drawing/2014/main" id="{89D56BBB-F3BA-4B1E-A336-B50D6276F8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8401" y="3805717"/>
            <a:ext cx="640647" cy="640647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0" descr="How to install Redis configuration on HestiaCP – Ultratech Solution">
            <a:extLst>
              <a:ext uri="{FF2B5EF4-FFF2-40B4-BE49-F238E27FC236}">
                <a16:creationId xmlns:a16="http://schemas.microsoft.com/office/drawing/2014/main" id="{FD019FB2-76C0-460B-A568-1305A17FE0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8401" y="4887203"/>
            <a:ext cx="709794" cy="599176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0" descr="MQTT - Bindings | openHAB">
            <a:extLst>
              <a:ext uri="{FF2B5EF4-FFF2-40B4-BE49-F238E27FC236}">
                <a16:creationId xmlns:a16="http://schemas.microsoft.com/office/drawing/2014/main" id="{285902D8-634E-442B-94D4-42B89EB55C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2402" y="5410200"/>
            <a:ext cx="1375081" cy="1243483"/>
          </a:xfrm>
          <a:prstGeom prst="rect">
            <a:avLst/>
          </a:prstGeom>
          <a:noFill/>
          <a:effectLst>
            <a:innerShdw blurRad="63500" dist="50800" dir="13500000">
              <a:prstClr val="black">
                <a:alpha val="50000"/>
              </a:prst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0" descr="MQTT - Bindings | openHAB">
            <a:extLst>
              <a:ext uri="{FF2B5EF4-FFF2-40B4-BE49-F238E27FC236}">
                <a16:creationId xmlns:a16="http://schemas.microsoft.com/office/drawing/2014/main" id="{B3CA3A10-1EC9-451F-8CA6-9FFC89134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887" y="5344139"/>
            <a:ext cx="818576" cy="740237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Device - Free computer icons">
            <a:extLst>
              <a:ext uri="{FF2B5EF4-FFF2-40B4-BE49-F238E27FC236}">
                <a16:creationId xmlns:a16="http://schemas.microsoft.com/office/drawing/2014/main" id="{7B9BDD9A-D16A-4C08-8C61-244F30B4D7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726530" y="5169499"/>
            <a:ext cx="954979" cy="961084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41E6CFE-98EA-4C74-9D4F-69420B8207C3}"/>
              </a:ext>
            </a:extLst>
          </p:cNvPr>
          <p:cNvCxnSpPr>
            <a:cxnSpLocks/>
            <a:stCxn id="6146" idx="2"/>
          </p:cNvCxnSpPr>
          <p:nvPr/>
        </p:nvCxnSpPr>
        <p:spPr>
          <a:xfrm>
            <a:off x="5210175" y="3087816"/>
            <a:ext cx="0" cy="7905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F866B07-FEB4-43E8-9E2A-1A4778091033}"/>
              </a:ext>
            </a:extLst>
          </p:cNvPr>
          <p:cNvCxnSpPr>
            <a:cxnSpLocks/>
          </p:cNvCxnSpPr>
          <p:nvPr/>
        </p:nvCxnSpPr>
        <p:spPr>
          <a:xfrm flipH="1">
            <a:off x="5514976" y="4126041"/>
            <a:ext cx="157709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F96C51E5-0D9A-485A-BFB5-4A793422C376}"/>
              </a:ext>
            </a:extLst>
          </p:cNvPr>
          <p:cNvCxnSpPr>
            <a:cxnSpLocks/>
            <a:endCxn id="13" idx="1"/>
          </p:cNvCxnSpPr>
          <p:nvPr/>
        </p:nvCxnSpPr>
        <p:spPr>
          <a:xfrm rot="16200000" flipH="1">
            <a:off x="6123750" y="4282139"/>
            <a:ext cx="1060751" cy="748551"/>
          </a:xfrm>
          <a:prstGeom prst="bentConnector2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3ED4B79-1387-476C-B26E-5B8DBF338A90}"/>
              </a:ext>
            </a:extLst>
          </p:cNvPr>
          <p:cNvCxnSpPr>
            <a:cxnSpLocks/>
          </p:cNvCxnSpPr>
          <p:nvPr/>
        </p:nvCxnSpPr>
        <p:spPr>
          <a:xfrm>
            <a:off x="6279850" y="5186790"/>
            <a:ext cx="88056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10D241A-E1BF-432E-B763-B4EBA5583E10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5210175" y="4368929"/>
            <a:ext cx="0" cy="97521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AD49FC3-161E-4392-985C-ABA5DEC33304}"/>
              </a:ext>
            </a:extLst>
          </p:cNvPr>
          <p:cNvCxnSpPr>
            <a:cxnSpLocks/>
          </p:cNvCxnSpPr>
          <p:nvPr/>
        </p:nvCxnSpPr>
        <p:spPr>
          <a:xfrm>
            <a:off x="3681510" y="5657807"/>
            <a:ext cx="131050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0935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3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3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300" fill="hold"/>
                                        <p:tgtEl>
                                          <p:spTgt spid="6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00" fill="hold"/>
                                        <p:tgtEl>
                                          <p:spTgt spid="6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3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3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3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3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6FB73-83A2-48F4-8676-24613C81A4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9825" y="166217"/>
            <a:ext cx="9496005" cy="961084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000" dirty="0">
                <a:solidFill>
                  <a:srgbClr val="ED7D31"/>
                </a:solidFill>
                <a:latin typeface="Arial Black" panose="020B0A04020102020204" pitchFamily="34" charset="0"/>
              </a:rPr>
              <a:t>KORAK DALJE - BACKEND</a:t>
            </a:r>
            <a:endParaRPr lang="sr-Cyrl-RS" sz="5000" dirty="0">
              <a:solidFill>
                <a:srgbClr val="ED7D3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C8C4DCD-EE29-40E9-80A5-38F5B18BDA49}"/>
              </a:ext>
            </a:extLst>
          </p:cNvPr>
          <p:cNvSpPr txBox="1">
            <a:spLocks/>
          </p:cNvSpPr>
          <p:nvPr/>
        </p:nvSpPr>
        <p:spPr>
          <a:xfrm>
            <a:off x="1290848" y="2183027"/>
            <a:ext cx="9791700" cy="4611819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Kako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je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komunikacija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prvobitno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implementirana</a:t>
            </a:r>
            <a:endParaRPr lang="en-U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Ideje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za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dalji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razvoj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i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približavanje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izgledu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realnog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sistema</a:t>
            </a:r>
            <a:endParaRPr lang="sr-Cyrl-R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169F84E-E206-4A3E-9ADD-ADB182D169BD}"/>
              </a:ext>
            </a:extLst>
          </p:cNvPr>
          <p:cNvGrpSpPr/>
          <p:nvPr/>
        </p:nvGrpSpPr>
        <p:grpSpPr>
          <a:xfrm>
            <a:off x="-934818" y="-1207369"/>
            <a:ext cx="3935194" cy="6292184"/>
            <a:chOff x="-934818" y="-1207369"/>
            <a:chExt cx="3935194" cy="62921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7C8D04-B665-4BFE-84EC-DFC1284DEE60}"/>
                </a:ext>
              </a:extLst>
            </p:cNvPr>
            <p:cNvSpPr/>
            <p:nvPr/>
          </p:nvSpPr>
          <p:spPr>
            <a:xfrm rot="1572022">
              <a:off x="-934818" y="-1207369"/>
              <a:ext cx="2247859" cy="6292184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r-Cyrl-RS"/>
            </a:p>
          </p:txBody>
        </p:sp>
        <p:pic>
          <p:nvPicPr>
            <p:cNvPr id="1026" name="Picture 2" descr="INIT Technologies – Fairs PKS">
              <a:extLst>
                <a:ext uri="{FF2B5EF4-FFF2-40B4-BE49-F238E27FC236}">
                  <a16:creationId xmlns:a16="http://schemas.microsoft.com/office/drawing/2014/main" id="{2D5FEE06-4CF0-4B7E-8197-A0F3E865E7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170" y="156692"/>
              <a:ext cx="2714206" cy="672625"/>
            </a:xfrm>
            <a:prstGeom prst="rect">
              <a:avLst/>
            </a:prstGeom>
            <a:noFill/>
            <a:effectLst>
              <a:innerShdw blurRad="63500" dist="50800" dir="13500000">
                <a:prstClr val="black">
                  <a:alpha val="50000"/>
                </a:prstClr>
              </a:inn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8B573A2C-D231-48D2-80B3-71CE239D4323}"/>
              </a:ext>
            </a:extLst>
          </p:cNvPr>
          <p:cNvSpPr/>
          <p:nvPr/>
        </p:nvSpPr>
        <p:spPr>
          <a:xfrm rot="1572022">
            <a:off x="10809507" y="1902156"/>
            <a:ext cx="2247859" cy="62921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Cyrl-RS"/>
          </a:p>
        </p:txBody>
      </p:sp>
      <p:pic>
        <p:nvPicPr>
          <p:cNvPr id="14" name="Picture 10" descr="MQTT - Bindings | openHAB">
            <a:extLst>
              <a:ext uri="{FF2B5EF4-FFF2-40B4-BE49-F238E27FC236}">
                <a16:creationId xmlns:a16="http://schemas.microsoft.com/office/drawing/2014/main" id="{285902D8-634E-442B-94D4-42B89EB55C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2402" y="5410200"/>
            <a:ext cx="1375081" cy="1243483"/>
          </a:xfrm>
          <a:prstGeom prst="rect">
            <a:avLst/>
          </a:prstGeom>
          <a:noFill/>
          <a:effectLst>
            <a:innerShdw blurRad="63500" dist="50800" dir="13500000">
              <a:prstClr val="black">
                <a:alpha val="50000"/>
              </a:prst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162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3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6FB73-83A2-48F4-8676-24613C81A4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95550" y="204317"/>
            <a:ext cx="9410281" cy="919633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000" dirty="0">
                <a:solidFill>
                  <a:srgbClr val="ED7D31"/>
                </a:solidFill>
                <a:latin typeface="Arial Black" panose="020B0A04020102020204" pitchFamily="34" charset="0"/>
              </a:rPr>
              <a:t>BAZA PODATAKA I REDIS</a:t>
            </a:r>
            <a:endParaRPr lang="sr-Cyrl-RS" sz="5000" dirty="0">
              <a:solidFill>
                <a:srgbClr val="ED7D3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C8C4DCD-EE29-40E9-80A5-38F5B18BDA49}"/>
              </a:ext>
            </a:extLst>
          </p:cNvPr>
          <p:cNvSpPr txBox="1">
            <a:spLocks/>
          </p:cNvSpPr>
          <p:nvPr/>
        </p:nvSpPr>
        <p:spPr>
          <a:xfrm>
            <a:off x="1100137" y="2619375"/>
            <a:ext cx="10296525" cy="470535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Entity Framework </a:t>
            </a:r>
            <a:r>
              <a:rPr lang="en-US" sz="3200" dirty="0" err="1">
                <a:solidFill>
                  <a:schemeClr val="bg1"/>
                </a:solidFill>
                <a:latin typeface="Arial Black" panose="020B0A04020102020204" pitchFamily="34" charset="0"/>
              </a:rPr>
              <a:t>i</a:t>
            </a:r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 MariaDB </a:t>
            </a:r>
            <a:r>
              <a:rPr lang="en-US" sz="3200" dirty="0" err="1">
                <a:solidFill>
                  <a:schemeClr val="bg1"/>
                </a:solidFill>
                <a:latin typeface="Arial Black" panose="020B0A04020102020204" pitchFamily="34" charset="0"/>
              </a:rPr>
              <a:t>baza</a:t>
            </a:r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 Black" panose="020B0A04020102020204" pitchFamily="34" charset="0"/>
              </a:rPr>
              <a:t>podataka</a:t>
            </a:r>
            <a:endParaRPr lang="en-US" sz="32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Redis </a:t>
            </a:r>
            <a:r>
              <a:rPr lang="en-US" sz="3200" dirty="0" err="1">
                <a:solidFill>
                  <a:schemeClr val="bg1"/>
                </a:solidFill>
                <a:latin typeface="Arial Black" panose="020B0A04020102020204" pitchFamily="34" charset="0"/>
              </a:rPr>
              <a:t>i</a:t>
            </a:r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 Black" panose="020B0A04020102020204" pitchFamily="34" charset="0"/>
              </a:rPr>
              <a:t>njegova</a:t>
            </a:r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 Black" panose="020B0A04020102020204" pitchFamily="34" charset="0"/>
              </a:rPr>
              <a:t>uloga</a:t>
            </a:r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 u </a:t>
            </a:r>
            <a:r>
              <a:rPr lang="en-US" sz="3200" dirty="0" err="1">
                <a:solidFill>
                  <a:schemeClr val="bg1"/>
                </a:solidFill>
                <a:latin typeface="Arial Black" panose="020B0A04020102020204" pitchFamily="34" charset="0"/>
              </a:rPr>
              <a:t>projektu</a:t>
            </a:r>
            <a:endParaRPr lang="en-US" sz="32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3200" dirty="0" err="1">
                <a:solidFill>
                  <a:schemeClr val="bg1"/>
                </a:solidFill>
                <a:latin typeface="Arial Black" panose="020B0A04020102020204" pitchFamily="34" charset="0"/>
              </a:rPr>
              <a:t>Statistika</a:t>
            </a:r>
            <a:endParaRPr lang="en-US" sz="32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Resubscribe to all </a:t>
            </a:r>
            <a:r>
              <a:rPr lang="en-US" sz="3200" dirty="0" err="1">
                <a:solidFill>
                  <a:schemeClr val="bg1"/>
                </a:solidFill>
                <a:latin typeface="Arial Black" panose="020B0A04020102020204" pitchFamily="34" charset="0"/>
              </a:rPr>
              <a:t>nakon</a:t>
            </a:r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 Black" panose="020B0A04020102020204" pitchFamily="34" charset="0"/>
              </a:rPr>
              <a:t>reconnecta</a:t>
            </a:r>
            <a:endParaRPr lang="sr-Cyrl-RS" sz="32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169F84E-E206-4A3E-9ADD-ADB182D169BD}"/>
              </a:ext>
            </a:extLst>
          </p:cNvPr>
          <p:cNvGrpSpPr/>
          <p:nvPr/>
        </p:nvGrpSpPr>
        <p:grpSpPr>
          <a:xfrm>
            <a:off x="-934818" y="-1207369"/>
            <a:ext cx="3935194" cy="6292184"/>
            <a:chOff x="-934818" y="-1207369"/>
            <a:chExt cx="3935194" cy="62921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7C8D04-B665-4BFE-84EC-DFC1284DEE60}"/>
                </a:ext>
              </a:extLst>
            </p:cNvPr>
            <p:cNvSpPr/>
            <p:nvPr/>
          </p:nvSpPr>
          <p:spPr>
            <a:xfrm rot="1572022">
              <a:off x="-934818" y="-1207369"/>
              <a:ext cx="2247859" cy="6292184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r-Cyrl-RS"/>
            </a:p>
          </p:txBody>
        </p:sp>
        <p:pic>
          <p:nvPicPr>
            <p:cNvPr id="1026" name="Picture 2" descr="INIT Technologies – Fairs PKS">
              <a:extLst>
                <a:ext uri="{FF2B5EF4-FFF2-40B4-BE49-F238E27FC236}">
                  <a16:creationId xmlns:a16="http://schemas.microsoft.com/office/drawing/2014/main" id="{2D5FEE06-4CF0-4B7E-8197-A0F3E865E7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170" y="156692"/>
              <a:ext cx="2714206" cy="672625"/>
            </a:xfrm>
            <a:prstGeom prst="rect">
              <a:avLst/>
            </a:prstGeom>
            <a:noFill/>
            <a:effectLst>
              <a:innerShdw blurRad="63500" dist="50800" dir="13500000">
                <a:prstClr val="black">
                  <a:alpha val="50000"/>
                </a:prstClr>
              </a:inn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8B573A2C-D231-48D2-80B3-71CE239D4323}"/>
              </a:ext>
            </a:extLst>
          </p:cNvPr>
          <p:cNvSpPr/>
          <p:nvPr/>
        </p:nvSpPr>
        <p:spPr>
          <a:xfrm rot="1572022">
            <a:off x="10809507" y="1902156"/>
            <a:ext cx="2247859" cy="62921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Cyrl-RS"/>
          </a:p>
        </p:txBody>
      </p:sp>
      <p:sp>
        <p:nvSpPr>
          <p:cNvPr id="3" name="AutoShape 2" descr="Dotnet Vector SVG Icon - SVG Repo">
            <a:extLst>
              <a:ext uri="{FF2B5EF4-FFF2-40B4-BE49-F238E27FC236}">
                <a16:creationId xmlns:a16="http://schemas.microsoft.com/office/drawing/2014/main" id="{8731E42B-967B-48CD-92FB-2F8A02652C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r-Cyrl-RS"/>
          </a:p>
        </p:txBody>
      </p:sp>
      <p:sp>
        <p:nvSpPr>
          <p:cNvPr id="4" name="AutoShape 4" descr="Dotnet Vector SVG Icon - SVG Repo">
            <a:extLst>
              <a:ext uri="{FF2B5EF4-FFF2-40B4-BE49-F238E27FC236}">
                <a16:creationId xmlns:a16="http://schemas.microsoft.com/office/drawing/2014/main" id="{90C3AB03-2827-4FDD-8469-872D0BC578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r-Cyrl-RS"/>
          </a:p>
        </p:txBody>
      </p:sp>
      <p:pic>
        <p:nvPicPr>
          <p:cNvPr id="10" name="Picture 6" descr="Database - Free seo and web icons">
            <a:extLst>
              <a:ext uri="{FF2B5EF4-FFF2-40B4-BE49-F238E27FC236}">
                <a16:creationId xmlns:a16="http://schemas.microsoft.com/office/drawing/2014/main" id="{63F72490-2CFB-4E03-8C6B-530343315E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0903" y="5391150"/>
            <a:ext cx="1262533" cy="1262533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0216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3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3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3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6FB73-83A2-48F4-8676-24613C81A4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57425" y="204317"/>
            <a:ext cx="9648406" cy="976783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ED7D31"/>
                </a:solidFill>
                <a:latin typeface="Arial Black" panose="020B0A04020102020204" pitchFamily="34" charset="0"/>
              </a:rPr>
              <a:t>LOGGING</a:t>
            </a:r>
            <a:endParaRPr lang="sr-Cyrl-RS" sz="5400" dirty="0">
              <a:solidFill>
                <a:srgbClr val="ED7D3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C8C4DCD-EE29-40E9-80A5-38F5B18BDA49}"/>
              </a:ext>
            </a:extLst>
          </p:cNvPr>
          <p:cNvSpPr txBox="1">
            <a:spLocks/>
          </p:cNvSpPr>
          <p:nvPr/>
        </p:nvSpPr>
        <p:spPr>
          <a:xfrm>
            <a:off x="1571626" y="2152650"/>
            <a:ext cx="9791700" cy="470535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Šta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je logging system</a:t>
            </a: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Zašto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je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bitan</a:t>
            </a:r>
            <a:endParaRPr lang="en-U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Kako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je logging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implementira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u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projektu</a:t>
            </a:r>
            <a:endParaRPr lang="sr-Cyrl-R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169F84E-E206-4A3E-9ADD-ADB182D169BD}"/>
              </a:ext>
            </a:extLst>
          </p:cNvPr>
          <p:cNvGrpSpPr/>
          <p:nvPr/>
        </p:nvGrpSpPr>
        <p:grpSpPr>
          <a:xfrm>
            <a:off x="-934818" y="-1207369"/>
            <a:ext cx="3935194" cy="6292184"/>
            <a:chOff x="-934818" y="-1207369"/>
            <a:chExt cx="3935194" cy="62921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7C8D04-B665-4BFE-84EC-DFC1284DEE60}"/>
                </a:ext>
              </a:extLst>
            </p:cNvPr>
            <p:cNvSpPr/>
            <p:nvPr/>
          </p:nvSpPr>
          <p:spPr>
            <a:xfrm rot="1572022">
              <a:off x="-934818" y="-1207369"/>
              <a:ext cx="2247859" cy="6292184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r-Cyrl-RS"/>
            </a:p>
          </p:txBody>
        </p:sp>
        <p:pic>
          <p:nvPicPr>
            <p:cNvPr id="1026" name="Picture 2" descr="INIT Technologies – Fairs PKS">
              <a:extLst>
                <a:ext uri="{FF2B5EF4-FFF2-40B4-BE49-F238E27FC236}">
                  <a16:creationId xmlns:a16="http://schemas.microsoft.com/office/drawing/2014/main" id="{2D5FEE06-4CF0-4B7E-8197-A0F3E865E7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170" y="156692"/>
              <a:ext cx="2714206" cy="672625"/>
            </a:xfrm>
            <a:prstGeom prst="rect">
              <a:avLst/>
            </a:prstGeom>
            <a:noFill/>
            <a:effectLst>
              <a:innerShdw blurRad="63500" dist="50800" dir="13500000">
                <a:prstClr val="black">
                  <a:alpha val="50000"/>
                </a:prstClr>
              </a:inn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8B573A2C-D231-48D2-80B3-71CE239D4323}"/>
              </a:ext>
            </a:extLst>
          </p:cNvPr>
          <p:cNvSpPr/>
          <p:nvPr/>
        </p:nvSpPr>
        <p:spPr>
          <a:xfrm rot="1572022">
            <a:off x="10809507" y="1902156"/>
            <a:ext cx="2247859" cy="62921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Cyrl-RS"/>
          </a:p>
        </p:txBody>
      </p:sp>
      <p:sp>
        <p:nvSpPr>
          <p:cNvPr id="3" name="AutoShape 2" descr="Dotnet Vector SVG Icon - SVG Repo">
            <a:extLst>
              <a:ext uri="{FF2B5EF4-FFF2-40B4-BE49-F238E27FC236}">
                <a16:creationId xmlns:a16="http://schemas.microsoft.com/office/drawing/2014/main" id="{8731E42B-967B-48CD-92FB-2F8A02652C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r-Cyrl-RS"/>
          </a:p>
        </p:txBody>
      </p:sp>
      <p:sp>
        <p:nvSpPr>
          <p:cNvPr id="4" name="AutoShape 4" descr="Dotnet Vector SVG Icon - SVG Repo">
            <a:extLst>
              <a:ext uri="{FF2B5EF4-FFF2-40B4-BE49-F238E27FC236}">
                <a16:creationId xmlns:a16="http://schemas.microsoft.com/office/drawing/2014/main" id="{90C3AB03-2827-4FDD-8469-872D0BC578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r-Cyrl-RS"/>
          </a:p>
        </p:txBody>
      </p:sp>
      <p:pic>
        <p:nvPicPr>
          <p:cNvPr id="7170" name="Picture 2" descr="Logs - Free files and folders icons">
            <a:extLst>
              <a:ext uri="{FF2B5EF4-FFF2-40B4-BE49-F238E27FC236}">
                <a16:creationId xmlns:a16="http://schemas.microsoft.com/office/drawing/2014/main" id="{F136E3ED-AD2D-48BA-AB5A-9C295526D2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374" y="5184377"/>
            <a:ext cx="1469306" cy="1469306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1270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3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3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6FB73-83A2-48F4-8676-24613C81A4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38399" y="204317"/>
            <a:ext cx="9467431" cy="976783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ED7D31"/>
                </a:solidFill>
                <a:latin typeface="Arial Black" panose="020B0A04020102020204" pitchFamily="34" charset="0"/>
              </a:rPr>
              <a:t>DOCKERIZATION</a:t>
            </a:r>
            <a:endParaRPr lang="sr-Cyrl-RS" sz="5400" dirty="0">
              <a:solidFill>
                <a:srgbClr val="ED7D3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C8C4DCD-EE29-40E9-80A5-38F5B18BDA49}"/>
              </a:ext>
            </a:extLst>
          </p:cNvPr>
          <p:cNvSpPr txBox="1">
            <a:spLocks/>
          </p:cNvSpPr>
          <p:nvPr/>
        </p:nvSpPr>
        <p:spPr>
          <a:xfrm>
            <a:off x="1462701" y="1862521"/>
            <a:ext cx="8961798" cy="470535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Šta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je Docker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i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njegova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uloga</a:t>
            </a:r>
            <a:endParaRPr lang="en-U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Šta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je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dokerizacija</a:t>
            </a:r>
            <a:endParaRPr lang="en-U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Kako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se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podešava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dokerizacija</a:t>
            </a:r>
            <a:endParaRPr lang="en-U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Kako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(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gde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) se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sakrivaju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osetljivi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podaci</a:t>
            </a:r>
            <a:endParaRPr lang="sr-Cyrl-R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169F84E-E206-4A3E-9ADD-ADB182D169BD}"/>
              </a:ext>
            </a:extLst>
          </p:cNvPr>
          <p:cNvGrpSpPr/>
          <p:nvPr/>
        </p:nvGrpSpPr>
        <p:grpSpPr>
          <a:xfrm>
            <a:off x="-934818" y="-1207369"/>
            <a:ext cx="3935194" cy="6292184"/>
            <a:chOff x="-934818" y="-1207369"/>
            <a:chExt cx="3935194" cy="62921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7C8D04-B665-4BFE-84EC-DFC1284DEE60}"/>
                </a:ext>
              </a:extLst>
            </p:cNvPr>
            <p:cNvSpPr/>
            <p:nvPr/>
          </p:nvSpPr>
          <p:spPr>
            <a:xfrm rot="1572022">
              <a:off x="-934818" y="-1207369"/>
              <a:ext cx="2247859" cy="6292184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r-Cyrl-RS"/>
            </a:p>
          </p:txBody>
        </p:sp>
        <p:pic>
          <p:nvPicPr>
            <p:cNvPr id="1026" name="Picture 2" descr="INIT Technologies – Fairs PKS">
              <a:extLst>
                <a:ext uri="{FF2B5EF4-FFF2-40B4-BE49-F238E27FC236}">
                  <a16:creationId xmlns:a16="http://schemas.microsoft.com/office/drawing/2014/main" id="{2D5FEE06-4CF0-4B7E-8197-A0F3E865E7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170" y="156692"/>
              <a:ext cx="2714206" cy="672625"/>
            </a:xfrm>
            <a:prstGeom prst="rect">
              <a:avLst/>
            </a:prstGeom>
            <a:noFill/>
            <a:effectLst>
              <a:innerShdw blurRad="63500" dist="50800" dir="13500000">
                <a:prstClr val="black">
                  <a:alpha val="50000"/>
                </a:prstClr>
              </a:inn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8B573A2C-D231-48D2-80B3-71CE239D4323}"/>
              </a:ext>
            </a:extLst>
          </p:cNvPr>
          <p:cNvSpPr/>
          <p:nvPr/>
        </p:nvSpPr>
        <p:spPr>
          <a:xfrm rot="1572022">
            <a:off x="10809507" y="1902156"/>
            <a:ext cx="2247859" cy="62921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Cyrl-RS"/>
          </a:p>
        </p:txBody>
      </p:sp>
      <p:sp>
        <p:nvSpPr>
          <p:cNvPr id="3" name="AutoShape 2" descr="Dotnet Vector SVG Icon - SVG Repo">
            <a:extLst>
              <a:ext uri="{FF2B5EF4-FFF2-40B4-BE49-F238E27FC236}">
                <a16:creationId xmlns:a16="http://schemas.microsoft.com/office/drawing/2014/main" id="{8731E42B-967B-48CD-92FB-2F8A02652C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r-Cyrl-RS"/>
          </a:p>
        </p:txBody>
      </p:sp>
      <p:sp>
        <p:nvSpPr>
          <p:cNvPr id="4" name="AutoShape 4" descr="Dotnet Vector SVG Icon - SVG Repo">
            <a:extLst>
              <a:ext uri="{FF2B5EF4-FFF2-40B4-BE49-F238E27FC236}">
                <a16:creationId xmlns:a16="http://schemas.microsoft.com/office/drawing/2014/main" id="{90C3AB03-2827-4FDD-8469-872D0BC578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r-Cyrl-RS"/>
          </a:p>
        </p:txBody>
      </p:sp>
      <p:pic>
        <p:nvPicPr>
          <p:cNvPr id="11" name="Picture 12" descr="Docker - Free brands and logotypes icons">
            <a:extLst>
              <a:ext uri="{FF2B5EF4-FFF2-40B4-BE49-F238E27FC236}">
                <a16:creationId xmlns:a16="http://schemas.microsoft.com/office/drawing/2014/main" id="{A1320269-76AE-4975-86AD-7C69F822D2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7236" y="5329277"/>
            <a:ext cx="1238594" cy="1238594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5021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3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3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3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6FB73-83A2-48F4-8676-24613C81A4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38399" y="204317"/>
            <a:ext cx="9467431" cy="976783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ED7D31"/>
                </a:solidFill>
                <a:latin typeface="Arial Black" panose="020B0A04020102020204" pitchFamily="34" charset="0"/>
              </a:rPr>
              <a:t>DOCKERIZATION</a:t>
            </a:r>
            <a:endParaRPr lang="sr-Cyrl-RS" sz="5400" dirty="0">
              <a:solidFill>
                <a:srgbClr val="ED7D31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169F84E-E206-4A3E-9ADD-ADB182D169BD}"/>
              </a:ext>
            </a:extLst>
          </p:cNvPr>
          <p:cNvGrpSpPr/>
          <p:nvPr/>
        </p:nvGrpSpPr>
        <p:grpSpPr>
          <a:xfrm>
            <a:off x="-934818" y="-1207369"/>
            <a:ext cx="3935194" cy="6292184"/>
            <a:chOff x="-934818" y="-1207369"/>
            <a:chExt cx="3935194" cy="62921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7C8D04-B665-4BFE-84EC-DFC1284DEE60}"/>
                </a:ext>
              </a:extLst>
            </p:cNvPr>
            <p:cNvSpPr/>
            <p:nvPr/>
          </p:nvSpPr>
          <p:spPr>
            <a:xfrm rot="1572022">
              <a:off x="-934818" y="-1207369"/>
              <a:ext cx="2247859" cy="6292184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r-Cyrl-RS"/>
            </a:p>
          </p:txBody>
        </p:sp>
        <p:pic>
          <p:nvPicPr>
            <p:cNvPr id="1026" name="Picture 2" descr="INIT Technologies – Fairs PKS">
              <a:extLst>
                <a:ext uri="{FF2B5EF4-FFF2-40B4-BE49-F238E27FC236}">
                  <a16:creationId xmlns:a16="http://schemas.microsoft.com/office/drawing/2014/main" id="{2D5FEE06-4CF0-4B7E-8197-A0F3E865E7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170" y="156692"/>
              <a:ext cx="2714206" cy="672625"/>
            </a:xfrm>
            <a:prstGeom prst="rect">
              <a:avLst/>
            </a:prstGeom>
            <a:noFill/>
            <a:effectLst>
              <a:innerShdw blurRad="63500" dist="50800" dir="13500000">
                <a:prstClr val="black">
                  <a:alpha val="50000"/>
                </a:prstClr>
              </a:inn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8B573A2C-D231-48D2-80B3-71CE239D4323}"/>
              </a:ext>
            </a:extLst>
          </p:cNvPr>
          <p:cNvSpPr/>
          <p:nvPr/>
        </p:nvSpPr>
        <p:spPr>
          <a:xfrm rot="1572022">
            <a:off x="10809507" y="1902156"/>
            <a:ext cx="2247859" cy="62921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Cyrl-RS"/>
          </a:p>
        </p:txBody>
      </p:sp>
      <p:sp>
        <p:nvSpPr>
          <p:cNvPr id="3" name="AutoShape 2" descr="Dotnet Vector SVG Icon - SVG Repo">
            <a:extLst>
              <a:ext uri="{FF2B5EF4-FFF2-40B4-BE49-F238E27FC236}">
                <a16:creationId xmlns:a16="http://schemas.microsoft.com/office/drawing/2014/main" id="{8731E42B-967B-48CD-92FB-2F8A02652C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r-Cyrl-RS"/>
          </a:p>
        </p:txBody>
      </p:sp>
      <p:sp>
        <p:nvSpPr>
          <p:cNvPr id="4" name="AutoShape 4" descr="Dotnet Vector SVG Icon - SVG Repo">
            <a:extLst>
              <a:ext uri="{FF2B5EF4-FFF2-40B4-BE49-F238E27FC236}">
                <a16:creationId xmlns:a16="http://schemas.microsoft.com/office/drawing/2014/main" id="{90C3AB03-2827-4FDD-8469-872D0BC578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r-Cyrl-RS"/>
          </a:p>
        </p:txBody>
      </p:sp>
      <p:pic>
        <p:nvPicPr>
          <p:cNvPr id="11" name="Picture 12" descr="Docker - Free brands and logotypes icons">
            <a:extLst>
              <a:ext uri="{FF2B5EF4-FFF2-40B4-BE49-F238E27FC236}">
                <a16:creationId xmlns:a16="http://schemas.microsoft.com/office/drawing/2014/main" id="{A1320269-76AE-4975-86AD-7C69F822D2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7236" y="5329277"/>
            <a:ext cx="1238594" cy="1238594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2" name="Picture 2" descr="Docker Desktop for Windows to run Containers | Cloud and Datacenter  Management Blog">
            <a:extLst>
              <a:ext uri="{FF2B5EF4-FFF2-40B4-BE49-F238E27FC236}">
                <a16:creationId xmlns:a16="http://schemas.microsoft.com/office/drawing/2014/main" id="{4E1875B9-AD2D-4A1B-A690-A37CBA6B5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148" y="1729171"/>
            <a:ext cx="6732000" cy="4286255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1344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6FB73-83A2-48F4-8676-24613C81A4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38399" y="204317"/>
            <a:ext cx="9467431" cy="976783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ED7D31"/>
                </a:solidFill>
                <a:latin typeface="Arial Black" panose="020B0A04020102020204" pitchFamily="34" charset="0"/>
              </a:rPr>
              <a:t>DOCKERIZATION</a:t>
            </a:r>
            <a:endParaRPr lang="sr-Cyrl-RS" sz="5400" dirty="0">
              <a:solidFill>
                <a:srgbClr val="ED7D31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169F84E-E206-4A3E-9ADD-ADB182D169BD}"/>
              </a:ext>
            </a:extLst>
          </p:cNvPr>
          <p:cNvGrpSpPr/>
          <p:nvPr/>
        </p:nvGrpSpPr>
        <p:grpSpPr>
          <a:xfrm>
            <a:off x="-934818" y="-1207369"/>
            <a:ext cx="3935194" cy="6292184"/>
            <a:chOff x="-934818" y="-1207369"/>
            <a:chExt cx="3935194" cy="62921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7C8D04-B665-4BFE-84EC-DFC1284DEE60}"/>
                </a:ext>
              </a:extLst>
            </p:cNvPr>
            <p:cNvSpPr/>
            <p:nvPr/>
          </p:nvSpPr>
          <p:spPr>
            <a:xfrm rot="1572022">
              <a:off x="-934818" y="-1207369"/>
              <a:ext cx="2247859" cy="6292184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r-Cyrl-RS"/>
            </a:p>
          </p:txBody>
        </p:sp>
        <p:pic>
          <p:nvPicPr>
            <p:cNvPr id="1026" name="Picture 2" descr="INIT Technologies – Fairs PKS">
              <a:extLst>
                <a:ext uri="{FF2B5EF4-FFF2-40B4-BE49-F238E27FC236}">
                  <a16:creationId xmlns:a16="http://schemas.microsoft.com/office/drawing/2014/main" id="{2D5FEE06-4CF0-4B7E-8197-A0F3E865E7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170" y="156692"/>
              <a:ext cx="2714206" cy="672625"/>
            </a:xfrm>
            <a:prstGeom prst="rect">
              <a:avLst/>
            </a:prstGeom>
            <a:noFill/>
            <a:effectLst>
              <a:innerShdw blurRad="63500" dist="50800" dir="13500000">
                <a:prstClr val="black">
                  <a:alpha val="50000"/>
                </a:prstClr>
              </a:inn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8B573A2C-D231-48D2-80B3-71CE239D4323}"/>
              </a:ext>
            </a:extLst>
          </p:cNvPr>
          <p:cNvSpPr/>
          <p:nvPr/>
        </p:nvSpPr>
        <p:spPr>
          <a:xfrm rot="1572022">
            <a:off x="10809507" y="1902156"/>
            <a:ext cx="2247859" cy="62921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Cyrl-RS"/>
          </a:p>
        </p:txBody>
      </p:sp>
      <p:sp>
        <p:nvSpPr>
          <p:cNvPr id="3" name="AutoShape 2" descr="Dotnet Vector SVG Icon - SVG Repo">
            <a:extLst>
              <a:ext uri="{FF2B5EF4-FFF2-40B4-BE49-F238E27FC236}">
                <a16:creationId xmlns:a16="http://schemas.microsoft.com/office/drawing/2014/main" id="{8731E42B-967B-48CD-92FB-2F8A02652C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r-Cyrl-RS"/>
          </a:p>
        </p:txBody>
      </p:sp>
      <p:sp>
        <p:nvSpPr>
          <p:cNvPr id="4" name="AutoShape 4" descr="Dotnet Vector SVG Icon - SVG Repo">
            <a:extLst>
              <a:ext uri="{FF2B5EF4-FFF2-40B4-BE49-F238E27FC236}">
                <a16:creationId xmlns:a16="http://schemas.microsoft.com/office/drawing/2014/main" id="{90C3AB03-2827-4FDD-8469-872D0BC578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r-Cyrl-RS"/>
          </a:p>
        </p:txBody>
      </p:sp>
      <p:pic>
        <p:nvPicPr>
          <p:cNvPr id="11" name="Picture 12" descr="Docker - Free brands and logotypes icons">
            <a:extLst>
              <a:ext uri="{FF2B5EF4-FFF2-40B4-BE49-F238E27FC236}">
                <a16:creationId xmlns:a16="http://schemas.microsoft.com/office/drawing/2014/main" id="{A1320269-76AE-4975-86AD-7C69F822D2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7236" y="5329277"/>
            <a:ext cx="1238594" cy="1238594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B6D2C5-A0AE-41EB-91E4-DFBA3E2493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7188" y="2247452"/>
            <a:ext cx="3281400" cy="4058098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4E87804-F1DF-4C00-A745-451581F2DC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524" y="1665004"/>
            <a:ext cx="3442149" cy="4137591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</p:spTree>
    <p:extLst>
      <p:ext uri="{BB962C8B-B14F-4D97-AF65-F5344CB8AC3E}">
        <p14:creationId xmlns:p14="http://schemas.microsoft.com/office/powerpoint/2010/main" val="200171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6FB73-83A2-48F4-8676-24613C81A4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38399" y="204317"/>
            <a:ext cx="9467431" cy="976783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ED7D31"/>
                </a:solidFill>
                <a:latin typeface="Arial Black" panose="020B0A04020102020204" pitchFamily="34" charset="0"/>
              </a:rPr>
              <a:t>JWT AUTHENTICATION</a:t>
            </a:r>
            <a:endParaRPr lang="sr-Cyrl-RS" sz="5400" dirty="0">
              <a:solidFill>
                <a:srgbClr val="ED7D3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C8C4DCD-EE29-40E9-80A5-38F5B18BDA49}"/>
              </a:ext>
            </a:extLst>
          </p:cNvPr>
          <p:cNvSpPr txBox="1">
            <a:spLocks/>
          </p:cNvSpPr>
          <p:nvPr/>
        </p:nvSpPr>
        <p:spPr>
          <a:xfrm>
            <a:off x="1615101" y="2366363"/>
            <a:ext cx="8961798" cy="470535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Šta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je JWT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i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čemu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služi</a:t>
            </a:r>
            <a:endParaRPr lang="en-U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Kako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je JWT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implementiran</a:t>
            </a:r>
            <a:endParaRPr lang="en-U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Šta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je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uloga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korisnika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Korisničko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praćenje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topics-a</a:t>
            </a:r>
            <a:endParaRPr lang="sr-Cyrl-R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169F84E-E206-4A3E-9ADD-ADB182D169BD}"/>
              </a:ext>
            </a:extLst>
          </p:cNvPr>
          <p:cNvGrpSpPr/>
          <p:nvPr/>
        </p:nvGrpSpPr>
        <p:grpSpPr>
          <a:xfrm>
            <a:off x="-934818" y="-1207369"/>
            <a:ext cx="3935194" cy="6292184"/>
            <a:chOff x="-934818" y="-1207369"/>
            <a:chExt cx="3935194" cy="62921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7C8D04-B665-4BFE-84EC-DFC1284DEE60}"/>
                </a:ext>
              </a:extLst>
            </p:cNvPr>
            <p:cNvSpPr/>
            <p:nvPr/>
          </p:nvSpPr>
          <p:spPr>
            <a:xfrm rot="1572022">
              <a:off x="-934818" y="-1207369"/>
              <a:ext cx="2247859" cy="6292184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r-Cyrl-RS"/>
            </a:p>
          </p:txBody>
        </p:sp>
        <p:pic>
          <p:nvPicPr>
            <p:cNvPr id="1026" name="Picture 2" descr="INIT Technologies – Fairs PKS">
              <a:extLst>
                <a:ext uri="{FF2B5EF4-FFF2-40B4-BE49-F238E27FC236}">
                  <a16:creationId xmlns:a16="http://schemas.microsoft.com/office/drawing/2014/main" id="{2D5FEE06-4CF0-4B7E-8197-A0F3E865E7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170" y="156692"/>
              <a:ext cx="2714206" cy="672625"/>
            </a:xfrm>
            <a:prstGeom prst="rect">
              <a:avLst/>
            </a:prstGeom>
            <a:noFill/>
            <a:effectLst>
              <a:innerShdw blurRad="63500" dist="50800" dir="13500000">
                <a:prstClr val="black">
                  <a:alpha val="50000"/>
                </a:prstClr>
              </a:inn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8B573A2C-D231-48D2-80B3-71CE239D4323}"/>
              </a:ext>
            </a:extLst>
          </p:cNvPr>
          <p:cNvSpPr/>
          <p:nvPr/>
        </p:nvSpPr>
        <p:spPr>
          <a:xfrm rot="1572022">
            <a:off x="10809507" y="1902156"/>
            <a:ext cx="2247859" cy="62921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Cyrl-RS"/>
          </a:p>
        </p:txBody>
      </p:sp>
      <p:sp>
        <p:nvSpPr>
          <p:cNvPr id="3" name="AutoShape 2" descr="Dotnet Vector SVG Icon - SVG Repo">
            <a:extLst>
              <a:ext uri="{FF2B5EF4-FFF2-40B4-BE49-F238E27FC236}">
                <a16:creationId xmlns:a16="http://schemas.microsoft.com/office/drawing/2014/main" id="{8731E42B-967B-48CD-92FB-2F8A02652C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r-Cyrl-RS"/>
          </a:p>
        </p:txBody>
      </p:sp>
      <p:sp>
        <p:nvSpPr>
          <p:cNvPr id="4" name="AutoShape 4" descr="Dotnet Vector SVG Icon - SVG Repo">
            <a:extLst>
              <a:ext uri="{FF2B5EF4-FFF2-40B4-BE49-F238E27FC236}">
                <a16:creationId xmlns:a16="http://schemas.microsoft.com/office/drawing/2014/main" id="{90C3AB03-2827-4FDD-8469-872D0BC578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r-Cyrl-RS"/>
          </a:p>
        </p:txBody>
      </p:sp>
      <p:pic>
        <p:nvPicPr>
          <p:cNvPr id="9218" name="Picture 2" descr="Jwt Website 3D Icons - Free Download in PNG, glTF">
            <a:extLst>
              <a:ext uri="{FF2B5EF4-FFF2-40B4-BE49-F238E27FC236}">
                <a16:creationId xmlns:a16="http://schemas.microsoft.com/office/drawing/2014/main" id="{E3B33993-960F-4864-916A-7D176CE7CF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6900" y="5378105"/>
            <a:ext cx="1434126" cy="1434126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5711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3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3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3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6FB73-83A2-48F4-8676-24613C81A4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38399" y="347663"/>
            <a:ext cx="9467431" cy="1281883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anchor="t">
            <a:normAutofit fontScale="90000"/>
          </a:bodyPr>
          <a:lstStyle/>
          <a:p>
            <a:r>
              <a:rPr lang="en-US" sz="5400" dirty="0">
                <a:solidFill>
                  <a:srgbClr val="ED7D31"/>
                </a:solidFill>
                <a:latin typeface="Arial Black" panose="020B0A04020102020204" pitchFamily="34" charset="0"/>
              </a:rPr>
              <a:t>ŠTA UVODI MOGUĆNOST UPOTREBE NALOGA</a:t>
            </a:r>
            <a:endParaRPr lang="sr-Cyrl-RS" sz="5400" dirty="0">
              <a:solidFill>
                <a:srgbClr val="ED7D3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C8C4DCD-EE29-40E9-80A5-38F5B18BDA49}"/>
              </a:ext>
            </a:extLst>
          </p:cNvPr>
          <p:cNvSpPr txBox="1">
            <a:spLocks/>
          </p:cNvSpPr>
          <p:nvPr/>
        </p:nvSpPr>
        <p:spPr>
          <a:xfrm>
            <a:off x="2167551" y="1995958"/>
            <a:ext cx="8961798" cy="470535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Praćenje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poruka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za topic</a:t>
            </a: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Filtrirani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prikaz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topics-a</a:t>
            </a: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Podela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uloga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korisnika</a:t>
            </a:r>
            <a:endParaRPr lang="en-U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Korisnička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podešavanja</a:t>
            </a:r>
            <a:endParaRPr lang="en-U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Admin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funkcionalnosti</a:t>
            </a:r>
            <a:endParaRPr lang="sr-Cyrl-R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169F84E-E206-4A3E-9ADD-ADB182D169BD}"/>
              </a:ext>
            </a:extLst>
          </p:cNvPr>
          <p:cNvGrpSpPr/>
          <p:nvPr/>
        </p:nvGrpSpPr>
        <p:grpSpPr>
          <a:xfrm>
            <a:off x="-934818" y="-1207369"/>
            <a:ext cx="3935194" cy="6292184"/>
            <a:chOff x="-934818" y="-1207369"/>
            <a:chExt cx="3935194" cy="62921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7C8D04-B665-4BFE-84EC-DFC1284DEE60}"/>
                </a:ext>
              </a:extLst>
            </p:cNvPr>
            <p:cNvSpPr/>
            <p:nvPr/>
          </p:nvSpPr>
          <p:spPr>
            <a:xfrm rot="1572022">
              <a:off x="-934818" y="-1207369"/>
              <a:ext cx="2247859" cy="6292184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r-Cyrl-RS"/>
            </a:p>
          </p:txBody>
        </p:sp>
        <p:pic>
          <p:nvPicPr>
            <p:cNvPr id="1026" name="Picture 2" descr="INIT Technologies – Fairs PKS">
              <a:extLst>
                <a:ext uri="{FF2B5EF4-FFF2-40B4-BE49-F238E27FC236}">
                  <a16:creationId xmlns:a16="http://schemas.microsoft.com/office/drawing/2014/main" id="{2D5FEE06-4CF0-4B7E-8197-A0F3E865E7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170" y="156692"/>
              <a:ext cx="2714206" cy="672625"/>
            </a:xfrm>
            <a:prstGeom prst="rect">
              <a:avLst/>
            </a:prstGeom>
            <a:noFill/>
            <a:effectLst>
              <a:innerShdw blurRad="63500" dist="50800" dir="13500000">
                <a:prstClr val="black">
                  <a:alpha val="50000"/>
                </a:prstClr>
              </a:inn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8B573A2C-D231-48D2-80B3-71CE239D4323}"/>
              </a:ext>
            </a:extLst>
          </p:cNvPr>
          <p:cNvSpPr/>
          <p:nvPr/>
        </p:nvSpPr>
        <p:spPr>
          <a:xfrm rot="1572022">
            <a:off x="10809507" y="1902156"/>
            <a:ext cx="2247859" cy="62921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Cyrl-RS"/>
          </a:p>
        </p:txBody>
      </p:sp>
      <p:sp>
        <p:nvSpPr>
          <p:cNvPr id="3" name="AutoShape 2" descr="Dotnet Vector SVG Icon - SVG Repo">
            <a:extLst>
              <a:ext uri="{FF2B5EF4-FFF2-40B4-BE49-F238E27FC236}">
                <a16:creationId xmlns:a16="http://schemas.microsoft.com/office/drawing/2014/main" id="{8731E42B-967B-48CD-92FB-2F8A02652C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r-Cyrl-RS"/>
          </a:p>
        </p:txBody>
      </p:sp>
      <p:sp>
        <p:nvSpPr>
          <p:cNvPr id="4" name="AutoShape 4" descr="Dotnet Vector SVG Icon - SVG Repo">
            <a:extLst>
              <a:ext uri="{FF2B5EF4-FFF2-40B4-BE49-F238E27FC236}">
                <a16:creationId xmlns:a16="http://schemas.microsoft.com/office/drawing/2014/main" id="{90C3AB03-2827-4FDD-8469-872D0BC578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r-Cyrl-RS"/>
          </a:p>
        </p:txBody>
      </p:sp>
      <p:pic>
        <p:nvPicPr>
          <p:cNvPr id="11266" name="Picture 2" descr="User - Free user icons">
            <a:extLst>
              <a:ext uri="{FF2B5EF4-FFF2-40B4-BE49-F238E27FC236}">
                <a16:creationId xmlns:a16="http://schemas.microsoft.com/office/drawing/2014/main" id="{483F0C63-A3AA-488C-B63B-22255FB0C7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1874" y="5391647"/>
            <a:ext cx="1309662" cy="1256804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2737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3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3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3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3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6FB73-83A2-48F4-8676-24613C81A4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38399" y="204317"/>
            <a:ext cx="9467431" cy="976783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ED7D31"/>
                </a:solidFill>
                <a:latin typeface="Arial Black" panose="020B0A04020102020204" pitchFamily="34" charset="0"/>
              </a:rPr>
              <a:t>SIMULATOR</a:t>
            </a:r>
            <a:endParaRPr lang="sr-Cyrl-RS" sz="5400" dirty="0">
              <a:solidFill>
                <a:srgbClr val="ED7D3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C8C4DCD-EE29-40E9-80A5-38F5B18BDA49}"/>
              </a:ext>
            </a:extLst>
          </p:cNvPr>
          <p:cNvSpPr txBox="1">
            <a:spLocks/>
          </p:cNvSpPr>
          <p:nvPr/>
        </p:nvSpPr>
        <p:spPr>
          <a:xfrm>
            <a:off x="1590675" y="1729171"/>
            <a:ext cx="9076561" cy="470535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Šta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je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cilj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simulatora</a:t>
            </a:r>
            <a:endParaRPr lang="en-U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Podela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uloga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projekata</a:t>
            </a:r>
            <a:endParaRPr lang="en-U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Kako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simulator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funkcioniše</a:t>
            </a:r>
            <a:endParaRPr lang="en-U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Zašto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je simulator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bitan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i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kako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nas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približava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realnom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sistemu</a:t>
            </a:r>
            <a:endParaRPr lang="sr-Cyrl-R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169F84E-E206-4A3E-9ADD-ADB182D169BD}"/>
              </a:ext>
            </a:extLst>
          </p:cNvPr>
          <p:cNvGrpSpPr/>
          <p:nvPr/>
        </p:nvGrpSpPr>
        <p:grpSpPr>
          <a:xfrm>
            <a:off x="-934818" y="-1207369"/>
            <a:ext cx="3935194" cy="6292184"/>
            <a:chOff x="-934818" y="-1207369"/>
            <a:chExt cx="3935194" cy="62921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7C8D04-B665-4BFE-84EC-DFC1284DEE60}"/>
                </a:ext>
              </a:extLst>
            </p:cNvPr>
            <p:cNvSpPr/>
            <p:nvPr/>
          </p:nvSpPr>
          <p:spPr>
            <a:xfrm rot="1572022">
              <a:off x="-934818" y="-1207369"/>
              <a:ext cx="2247859" cy="6292184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r-Cyrl-RS"/>
            </a:p>
          </p:txBody>
        </p:sp>
        <p:pic>
          <p:nvPicPr>
            <p:cNvPr id="1026" name="Picture 2" descr="INIT Technologies – Fairs PKS">
              <a:extLst>
                <a:ext uri="{FF2B5EF4-FFF2-40B4-BE49-F238E27FC236}">
                  <a16:creationId xmlns:a16="http://schemas.microsoft.com/office/drawing/2014/main" id="{2D5FEE06-4CF0-4B7E-8197-A0F3E865E7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170" y="156692"/>
              <a:ext cx="2714206" cy="672625"/>
            </a:xfrm>
            <a:prstGeom prst="rect">
              <a:avLst/>
            </a:prstGeom>
            <a:noFill/>
            <a:effectLst>
              <a:innerShdw blurRad="63500" dist="50800" dir="13500000">
                <a:prstClr val="black">
                  <a:alpha val="50000"/>
                </a:prstClr>
              </a:inn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8B573A2C-D231-48D2-80B3-71CE239D4323}"/>
              </a:ext>
            </a:extLst>
          </p:cNvPr>
          <p:cNvSpPr/>
          <p:nvPr/>
        </p:nvSpPr>
        <p:spPr>
          <a:xfrm rot="1572022">
            <a:off x="10809507" y="1902156"/>
            <a:ext cx="2247859" cy="62921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Cyrl-RS"/>
          </a:p>
        </p:txBody>
      </p:sp>
      <p:sp>
        <p:nvSpPr>
          <p:cNvPr id="3" name="AutoShape 2" descr="Dotnet Vector SVG Icon - SVG Repo">
            <a:extLst>
              <a:ext uri="{FF2B5EF4-FFF2-40B4-BE49-F238E27FC236}">
                <a16:creationId xmlns:a16="http://schemas.microsoft.com/office/drawing/2014/main" id="{8731E42B-967B-48CD-92FB-2F8A02652C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r-Cyrl-RS"/>
          </a:p>
        </p:txBody>
      </p:sp>
      <p:sp>
        <p:nvSpPr>
          <p:cNvPr id="4" name="AutoShape 4" descr="Dotnet Vector SVG Icon - SVG Repo">
            <a:extLst>
              <a:ext uri="{FF2B5EF4-FFF2-40B4-BE49-F238E27FC236}">
                <a16:creationId xmlns:a16="http://schemas.microsoft.com/office/drawing/2014/main" id="{90C3AB03-2827-4FDD-8469-872D0BC578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r-Cyrl-RS"/>
          </a:p>
        </p:txBody>
      </p:sp>
      <p:pic>
        <p:nvPicPr>
          <p:cNvPr id="12290" name="Picture 2" descr="Simulation - Free computer icons">
            <a:extLst>
              <a:ext uri="{FF2B5EF4-FFF2-40B4-BE49-F238E27FC236}">
                <a16:creationId xmlns:a16="http://schemas.microsoft.com/office/drawing/2014/main" id="{B1ADF972-FC4B-4E06-9C90-0D3A34AC43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7235" y="5247510"/>
            <a:ext cx="1324739" cy="1324739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4268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3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3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3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6FB73-83A2-48F4-8676-24613C81A4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38399" y="204317"/>
            <a:ext cx="9467431" cy="976783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ED7D31"/>
                </a:solidFill>
                <a:latin typeface="Arial Black" panose="020B0A04020102020204" pitchFamily="34" charset="0"/>
              </a:rPr>
              <a:t>SIMULATOR</a:t>
            </a:r>
            <a:endParaRPr lang="sr-Cyrl-RS" sz="5400" dirty="0">
              <a:solidFill>
                <a:srgbClr val="ED7D31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169F84E-E206-4A3E-9ADD-ADB182D169BD}"/>
              </a:ext>
            </a:extLst>
          </p:cNvPr>
          <p:cNvGrpSpPr/>
          <p:nvPr/>
        </p:nvGrpSpPr>
        <p:grpSpPr>
          <a:xfrm>
            <a:off x="-934818" y="-1207369"/>
            <a:ext cx="3935194" cy="6292184"/>
            <a:chOff x="-934818" y="-1207369"/>
            <a:chExt cx="3935194" cy="62921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7C8D04-B665-4BFE-84EC-DFC1284DEE60}"/>
                </a:ext>
              </a:extLst>
            </p:cNvPr>
            <p:cNvSpPr/>
            <p:nvPr/>
          </p:nvSpPr>
          <p:spPr>
            <a:xfrm rot="1572022">
              <a:off x="-934818" y="-1207369"/>
              <a:ext cx="2247859" cy="6292184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r-Cyrl-RS"/>
            </a:p>
          </p:txBody>
        </p:sp>
        <p:pic>
          <p:nvPicPr>
            <p:cNvPr id="1026" name="Picture 2" descr="INIT Technologies – Fairs PKS">
              <a:extLst>
                <a:ext uri="{FF2B5EF4-FFF2-40B4-BE49-F238E27FC236}">
                  <a16:creationId xmlns:a16="http://schemas.microsoft.com/office/drawing/2014/main" id="{2D5FEE06-4CF0-4B7E-8197-A0F3E865E7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170" y="156692"/>
              <a:ext cx="2714206" cy="672625"/>
            </a:xfrm>
            <a:prstGeom prst="rect">
              <a:avLst/>
            </a:prstGeom>
            <a:noFill/>
            <a:effectLst>
              <a:innerShdw blurRad="63500" dist="50800" dir="13500000">
                <a:prstClr val="black">
                  <a:alpha val="50000"/>
                </a:prstClr>
              </a:inn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8B573A2C-D231-48D2-80B3-71CE239D4323}"/>
              </a:ext>
            </a:extLst>
          </p:cNvPr>
          <p:cNvSpPr/>
          <p:nvPr/>
        </p:nvSpPr>
        <p:spPr>
          <a:xfrm rot="1572022">
            <a:off x="10809507" y="1902156"/>
            <a:ext cx="2247859" cy="62921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Cyrl-RS"/>
          </a:p>
        </p:txBody>
      </p:sp>
      <p:sp>
        <p:nvSpPr>
          <p:cNvPr id="3" name="AutoShape 2" descr="Dotnet Vector SVG Icon - SVG Repo">
            <a:extLst>
              <a:ext uri="{FF2B5EF4-FFF2-40B4-BE49-F238E27FC236}">
                <a16:creationId xmlns:a16="http://schemas.microsoft.com/office/drawing/2014/main" id="{8731E42B-967B-48CD-92FB-2F8A02652C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r-Cyrl-RS"/>
          </a:p>
        </p:txBody>
      </p:sp>
      <p:sp>
        <p:nvSpPr>
          <p:cNvPr id="4" name="AutoShape 4" descr="Dotnet Vector SVG Icon - SVG Repo">
            <a:extLst>
              <a:ext uri="{FF2B5EF4-FFF2-40B4-BE49-F238E27FC236}">
                <a16:creationId xmlns:a16="http://schemas.microsoft.com/office/drawing/2014/main" id="{90C3AB03-2827-4FDD-8469-872D0BC578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r-Cyrl-RS"/>
          </a:p>
        </p:txBody>
      </p:sp>
      <p:pic>
        <p:nvPicPr>
          <p:cNvPr id="12290" name="Picture 2" descr="Simulation - Free computer icons">
            <a:extLst>
              <a:ext uri="{FF2B5EF4-FFF2-40B4-BE49-F238E27FC236}">
                <a16:creationId xmlns:a16="http://schemas.microsoft.com/office/drawing/2014/main" id="{B1ADF972-FC4B-4E06-9C90-0D3A34AC43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7235" y="5247510"/>
            <a:ext cx="1324739" cy="1324739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8DB8F9F-1A59-4685-83C4-7150B6A759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2253" y="1938723"/>
            <a:ext cx="6582694" cy="3600953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</p:spTree>
    <p:extLst>
      <p:ext uri="{BB962C8B-B14F-4D97-AF65-F5344CB8AC3E}">
        <p14:creationId xmlns:p14="http://schemas.microsoft.com/office/powerpoint/2010/main" val="3373655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6FB73-83A2-48F4-8676-24613C81A4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6950" y="75346"/>
            <a:ext cx="9781757" cy="1600200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US" sz="4800" dirty="0">
                <a:solidFill>
                  <a:srgbClr val="ED7D31"/>
                </a:solidFill>
                <a:latin typeface="Arial Black" panose="020B0A04020102020204" pitchFamily="34" charset="0"/>
              </a:rPr>
              <a:t>ADMINSKO UPRAVLJANJE NAD SIMULATORA PUTEM MQTT</a:t>
            </a:r>
            <a:endParaRPr lang="sr-Cyrl-RS" sz="4800" dirty="0">
              <a:solidFill>
                <a:srgbClr val="ED7D3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C8C4DCD-EE29-40E9-80A5-38F5B18BDA49}"/>
              </a:ext>
            </a:extLst>
          </p:cNvPr>
          <p:cNvSpPr txBox="1">
            <a:spLocks/>
          </p:cNvSpPr>
          <p:nvPr/>
        </p:nvSpPr>
        <p:spPr>
          <a:xfrm>
            <a:off x="1705438" y="1818506"/>
            <a:ext cx="8961798" cy="4339021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Promena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načina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funkcionisanja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simulatora</a:t>
            </a:r>
            <a:endParaRPr lang="en-U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Kako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admin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menja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vrednost</a:t>
            </a:r>
            <a:endParaRPr lang="en-U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Kako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nas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ovo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dodatno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približava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realnom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sistemu</a:t>
            </a:r>
            <a:endParaRPr lang="en-U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Improvements za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budućnost</a:t>
            </a:r>
            <a:endParaRPr lang="sr-Cyrl-R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169F84E-E206-4A3E-9ADD-ADB182D169BD}"/>
              </a:ext>
            </a:extLst>
          </p:cNvPr>
          <p:cNvGrpSpPr/>
          <p:nvPr/>
        </p:nvGrpSpPr>
        <p:grpSpPr>
          <a:xfrm>
            <a:off x="-934818" y="-1207369"/>
            <a:ext cx="3935194" cy="6292184"/>
            <a:chOff x="-934818" y="-1207369"/>
            <a:chExt cx="3935194" cy="62921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7C8D04-B665-4BFE-84EC-DFC1284DEE60}"/>
                </a:ext>
              </a:extLst>
            </p:cNvPr>
            <p:cNvSpPr/>
            <p:nvPr/>
          </p:nvSpPr>
          <p:spPr>
            <a:xfrm rot="1572022">
              <a:off x="-934818" y="-1207369"/>
              <a:ext cx="2247859" cy="6292184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r-Cyrl-RS"/>
            </a:p>
          </p:txBody>
        </p:sp>
        <p:pic>
          <p:nvPicPr>
            <p:cNvPr id="1026" name="Picture 2" descr="INIT Technologies – Fairs PKS">
              <a:extLst>
                <a:ext uri="{FF2B5EF4-FFF2-40B4-BE49-F238E27FC236}">
                  <a16:creationId xmlns:a16="http://schemas.microsoft.com/office/drawing/2014/main" id="{2D5FEE06-4CF0-4B7E-8197-A0F3E865E7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170" y="156692"/>
              <a:ext cx="2714206" cy="672625"/>
            </a:xfrm>
            <a:prstGeom prst="rect">
              <a:avLst/>
            </a:prstGeom>
            <a:noFill/>
            <a:effectLst>
              <a:innerShdw blurRad="63500" dist="50800" dir="13500000">
                <a:prstClr val="black">
                  <a:alpha val="50000"/>
                </a:prstClr>
              </a:inn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8B573A2C-D231-48D2-80B3-71CE239D4323}"/>
              </a:ext>
            </a:extLst>
          </p:cNvPr>
          <p:cNvSpPr/>
          <p:nvPr/>
        </p:nvSpPr>
        <p:spPr>
          <a:xfrm rot="1572022">
            <a:off x="10809507" y="1902156"/>
            <a:ext cx="2247859" cy="62921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Cyrl-RS"/>
          </a:p>
        </p:txBody>
      </p:sp>
      <p:sp>
        <p:nvSpPr>
          <p:cNvPr id="3" name="AutoShape 2" descr="Dotnet Vector SVG Icon - SVG Repo">
            <a:extLst>
              <a:ext uri="{FF2B5EF4-FFF2-40B4-BE49-F238E27FC236}">
                <a16:creationId xmlns:a16="http://schemas.microsoft.com/office/drawing/2014/main" id="{8731E42B-967B-48CD-92FB-2F8A02652C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r-Cyrl-RS"/>
          </a:p>
        </p:txBody>
      </p:sp>
      <p:sp>
        <p:nvSpPr>
          <p:cNvPr id="4" name="AutoShape 4" descr="Dotnet Vector SVG Icon - SVG Repo">
            <a:extLst>
              <a:ext uri="{FF2B5EF4-FFF2-40B4-BE49-F238E27FC236}">
                <a16:creationId xmlns:a16="http://schemas.microsoft.com/office/drawing/2014/main" id="{90C3AB03-2827-4FDD-8469-872D0BC578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r-Cyrl-RS"/>
          </a:p>
        </p:txBody>
      </p:sp>
      <p:pic>
        <p:nvPicPr>
          <p:cNvPr id="19458" name="Picture 2" descr="Management - Free user icons">
            <a:extLst>
              <a:ext uri="{FF2B5EF4-FFF2-40B4-BE49-F238E27FC236}">
                <a16:creationId xmlns:a16="http://schemas.microsoft.com/office/drawing/2014/main" id="{F99EAF6E-3700-4B60-840D-AE1339B83C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9103" y="5257800"/>
            <a:ext cx="1429604" cy="1429604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3895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3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3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3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6FB73-83A2-48F4-8676-24613C81A4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9325" y="204317"/>
            <a:ext cx="9686505" cy="1762212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ED7D31"/>
                </a:solidFill>
                <a:latin typeface="Arial Black" panose="020B0A04020102020204" pitchFamily="34" charset="0"/>
              </a:rPr>
              <a:t>PROJEKAT NAKON PODELE ULOGA</a:t>
            </a:r>
            <a:endParaRPr lang="sr-Cyrl-RS" sz="5400" dirty="0">
              <a:solidFill>
                <a:srgbClr val="ED7D3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C8C4DCD-EE29-40E9-80A5-38F5B18BDA49}"/>
              </a:ext>
            </a:extLst>
          </p:cNvPr>
          <p:cNvSpPr txBox="1">
            <a:spLocks/>
          </p:cNvSpPr>
          <p:nvPr/>
        </p:nvSpPr>
        <p:spPr>
          <a:xfrm>
            <a:off x="1393249" y="2443633"/>
            <a:ext cx="8961798" cy="4339021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Kako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backend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funkcioniše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nakon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podele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uloga</a:t>
            </a:r>
            <a:endParaRPr lang="en-U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Kako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funkcionišu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liste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topics-a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i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korisničke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pretplate</a:t>
            </a:r>
            <a:endParaRPr lang="sr-Cyrl-R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169F84E-E206-4A3E-9ADD-ADB182D169BD}"/>
              </a:ext>
            </a:extLst>
          </p:cNvPr>
          <p:cNvGrpSpPr/>
          <p:nvPr/>
        </p:nvGrpSpPr>
        <p:grpSpPr>
          <a:xfrm>
            <a:off x="-934818" y="-1207369"/>
            <a:ext cx="3935194" cy="6292184"/>
            <a:chOff x="-934818" y="-1207369"/>
            <a:chExt cx="3935194" cy="62921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7C8D04-B665-4BFE-84EC-DFC1284DEE60}"/>
                </a:ext>
              </a:extLst>
            </p:cNvPr>
            <p:cNvSpPr/>
            <p:nvPr/>
          </p:nvSpPr>
          <p:spPr>
            <a:xfrm rot="1572022">
              <a:off x="-934818" y="-1207369"/>
              <a:ext cx="2247859" cy="6292184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r-Cyrl-RS"/>
            </a:p>
          </p:txBody>
        </p:sp>
        <p:pic>
          <p:nvPicPr>
            <p:cNvPr id="1026" name="Picture 2" descr="INIT Technologies – Fairs PKS">
              <a:extLst>
                <a:ext uri="{FF2B5EF4-FFF2-40B4-BE49-F238E27FC236}">
                  <a16:creationId xmlns:a16="http://schemas.microsoft.com/office/drawing/2014/main" id="{2D5FEE06-4CF0-4B7E-8197-A0F3E865E7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170" y="156692"/>
              <a:ext cx="2714206" cy="672625"/>
            </a:xfrm>
            <a:prstGeom prst="rect">
              <a:avLst/>
            </a:prstGeom>
            <a:noFill/>
            <a:effectLst>
              <a:innerShdw blurRad="63500" dist="50800" dir="13500000">
                <a:prstClr val="black">
                  <a:alpha val="50000"/>
                </a:prstClr>
              </a:inn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8B573A2C-D231-48D2-80B3-71CE239D4323}"/>
              </a:ext>
            </a:extLst>
          </p:cNvPr>
          <p:cNvSpPr/>
          <p:nvPr/>
        </p:nvSpPr>
        <p:spPr>
          <a:xfrm rot="1572022">
            <a:off x="10809507" y="1902156"/>
            <a:ext cx="2247859" cy="62921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Cyrl-RS"/>
          </a:p>
        </p:txBody>
      </p:sp>
      <p:sp>
        <p:nvSpPr>
          <p:cNvPr id="3" name="AutoShape 2" descr="Dotnet Vector SVG Icon - SVG Repo">
            <a:extLst>
              <a:ext uri="{FF2B5EF4-FFF2-40B4-BE49-F238E27FC236}">
                <a16:creationId xmlns:a16="http://schemas.microsoft.com/office/drawing/2014/main" id="{8731E42B-967B-48CD-92FB-2F8A02652C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r-Cyrl-RS"/>
          </a:p>
        </p:txBody>
      </p:sp>
      <p:sp>
        <p:nvSpPr>
          <p:cNvPr id="4" name="AutoShape 4" descr="Dotnet Vector SVG Icon - SVG Repo">
            <a:extLst>
              <a:ext uri="{FF2B5EF4-FFF2-40B4-BE49-F238E27FC236}">
                <a16:creationId xmlns:a16="http://schemas.microsoft.com/office/drawing/2014/main" id="{90C3AB03-2827-4FDD-8469-872D0BC578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r-Cyrl-RS"/>
          </a:p>
        </p:txBody>
      </p:sp>
      <p:pic>
        <p:nvPicPr>
          <p:cNvPr id="12" name="Picture 4" descr="Backend - Free seo and web icons">
            <a:extLst>
              <a:ext uri="{FF2B5EF4-FFF2-40B4-BE49-F238E27FC236}">
                <a16:creationId xmlns:a16="http://schemas.microsoft.com/office/drawing/2014/main" id="{5B16817E-57A4-4F81-8E98-E00ECDD566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8449" y="5335224"/>
            <a:ext cx="1589709" cy="1589709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3668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3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6FB73-83A2-48F4-8676-24613C81A4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38399" y="204317"/>
            <a:ext cx="9467431" cy="976783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ED7D31"/>
                </a:solidFill>
                <a:latin typeface="Arial Black" panose="020B0A04020102020204" pitchFamily="34" charset="0"/>
              </a:rPr>
              <a:t>ALARMI</a:t>
            </a:r>
            <a:endParaRPr lang="sr-Cyrl-RS" sz="5400" dirty="0">
              <a:solidFill>
                <a:srgbClr val="ED7D3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C8C4DCD-EE29-40E9-80A5-38F5B18BDA49}"/>
              </a:ext>
            </a:extLst>
          </p:cNvPr>
          <p:cNvSpPr txBox="1">
            <a:spLocks/>
          </p:cNvSpPr>
          <p:nvPr/>
        </p:nvSpPr>
        <p:spPr>
          <a:xfrm>
            <a:off x="1717188" y="2366363"/>
            <a:ext cx="8757624" cy="470535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Šta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su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alarmi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i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zašto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su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značajni</a:t>
            </a:r>
            <a:endParaRPr lang="en-U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Kako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su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alarmi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implementirani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u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projektu</a:t>
            </a:r>
            <a:endParaRPr lang="sr-Cyrl-R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169F84E-E206-4A3E-9ADD-ADB182D169BD}"/>
              </a:ext>
            </a:extLst>
          </p:cNvPr>
          <p:cNvGrpSpPr/>
          <p:nvPr/>
        </p:nvGrpSpPr>
        <p:grpSpPr>
          <a:xfrm>
            <a:off x="-934818" y="-1207369"/>
            <a:ext cx="3935194" cy="6292184"/>
            <a:chOff x="-934818" y="-1207369"/>
            <a:chExt cx="3935194" cy="62921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7C8D04-B665-4BFE-84EC-DFC1284DEE60}"/>
                </a:ext>
              </a:extLst>
            </p:cNvPr>
            <p:cNvSpPr/>
            <p:nvPr/>
          </p:nvSpPr>
          <p:spPr>
            <a:xfrm rot="1572022">
              <a:off x="-934818" y="-1207369"/>
              <a:ext cx="2247859" cy="6292184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r-Cyrl-RS"/>
            </a:p>
          </p:txBody>
        </p:sp>
        <p:pic>
          <p:nvPicPr>
            <p:cNvPr id="1026" name="Picture 2" descr="INIT Technologies – Fairs PKS">
              <a:extLst>
                <a:ext uri="{FF2B5EF4-FFF2-40B4-BE49-F238E27FC236}">
                  <a16:creationId xmlns:a16="http://schemas.microsoft.com/office/drawing/2014/main" id="{2D5FEE06-4CF0-4B7E-8197-A0F3E865E7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170" y="156692"/>
              <a:ext cx="2714206" cy="672625"/>
            </a:xfrm>
            <a:prstGeom prst="rect">
              <a:avLst/>
            </a:prstGeom>
            <a:noFill/>
            <a:effectLst>
              <a:innerShdw blurRad="63500" dist="50800" dir="13500000">
                <a:prstClr val="black">
                  <a:alpha val="50000"/>
                </a:prstClr>
              </a:inn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8B573A2C-D231-48D2-80B3-71CE239D4323}"/>
              </a:ext>
            </a:extLst>
          </p:cNvPr>
          <p:cNvSpPr/>
          <p:nvPr/>
        </p:nvSpPr>
        <p:spPr>
          <a:xfrm rot="1572022">
            <a:off x="10809507" y="1902156"/>
            <a:ext cx="2247859" cy="62921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Cyrl-RS"/>
          </a:p>
        </p:txBody>
      </p:sp>
      <p:sp>
        <p:nvSpPr>
          <p:cNvPr id="3" name="AutoShape 2" descr="Dotnet Vector SVG Icon - SVG Repo">
            <a:extLst>
              <a:ext uri="{FF2B5EF4-FFF2-40B4-BE49-F238E27FC236}">
                <a16:creationId xmlns:a16="http://schemas.microsoft.com/office/drawing/2014/main" id="{8731E42B-967B-48CD-92FB-2F8A02652C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r-Cyrl-RS"/>
          </a:p>
        </p:txBody>
      </p:sp>
      <p:sp>
        <p:nvSpPr>
          <p:cNvPr id="4" name="AutoShape 4" descr="Dotnet Vector SVG Icon - SVG Repo">
            <a:extLst>
              <a:ext uri="{FF2B5EF4-FFF2-40B4-BE49-F238E27FC236}">
                <a16:creationId xmlns:a16="http://schemas.microsoft.com/office/drawing/2014/main" id="{90C3AB03-2827-4FDD-8469-872D0BC578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r-Cyrl-RS"/>
          </a:p>
        </p:txBody>
      </p:sp>
      <p:pic>
        <p:nvPicPr>
          <p:cNvPr id="13314" name="Picture 2" descr="Alarm - Free security icons">
            <a:extLst>
              <a:ext uri="{FF2B5EF4-FFF2-40B4-BE49-F238E27FC236}">
                <a16:creationId xmlns:a16="http://schemas.microsoft.com/office/drawing/2014/main" id="{CBDF9825-86DB-493A-BE75-633F50BD5F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7042" y="5153025"/>
            <a:ext cx="1500658" cy="1500658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3456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3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6FB73-83A2-48F4-8676-24613C81A4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38399" y="204317"/>
            <a:ext cx="9467431" cy="976783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ED7D31"/>
                </a:solidFill>
                <a:latin typeface="Arial Black" panose="020B0A04020102020204" pitchFamily="34" charset="0"/>
              </a:rPr>
              <a:t>SIGNALIR</a:t>
            </a:r>
            <a:endParaRPr lang="sr-Cyrl-RS" sz="5400" dirty="0">
              <a:solidFill>
                <a:srgbClr val="ED7D3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C8C4DCD-EE29-40E9-80A5-38F5B18BDA49}"/>
              </a:ext>
            </a:extLst>
          </p:cNvPr>
          <p:cNvSpPr txBox="1">
            <a:spLocks/>
          </p:cNvSpPr>
          <p:nvPr/>
        </p:nvSpPr>
        <p:spPr>
          <a:xfrm>
            <a:off x="2340299" y="2366363"/>
            <a:ext cx="8961798" cy="470535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Šta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je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SignalIR</a:t>
            </a:r>
            <a:endParaRPr lang="en-U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Kako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je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implementiran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u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projektu</a:t>
            </a:r>
            <a:endParaRPr lang="sr-Cyrl-R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169F84E-E206-4A3E-9ADD-ADB182D169BD}"/>
              </a:ext>
            </a:extLst>
          </p:cNvPr>
          <p:cNvGrpSpPr/>
          <p:nvPr/>
        </p:nvGrpSpPr>
        <p:grpSpPr>
          <a:xfrm>
            <a:off x="-934818" y="-1207369"/>
            <a:ext cx="3935194" cy="6292184"/>
            <a:chOff x="-934818" y="-1207369"/>
            <a:chExt cx="3935194" cy="62921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7C8D04-B665-4BFE-84EC-DFC1284DEE60}"/>
                </a:ext>
              </a:extLst>
            </p:cNvPr>
            <p:cNvSpPr/>
            <p:nvPr/>
          </p:nvSpPr>
          <p:spPr>
            <a:xfrm rot="1572022">
              <a:off x="-934818" y="-1207369"/>
              <a:ext cx="2247859" cy="6292184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r-Cyrl-RS"/>
            </a:p>
          </p:txBody>
        </p:sp>
        <p:pic>
          <p:nvPicPr>
            <p:cNvPr id="1026" name="Picture 2" descr="INIT Technologies – Fairs PKS">
              <a:extLst>
                <a:ext uri="{FF2B5EF4-FFF2-40B4-BE49-F238E27FC236}">
                  <a16:creationId xmlns:a16="http://schemas.microsoft.com/office/drawing/2014/main" id="{2D5FEE06-4CF0-4B7E-8197-A0F3E865E7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170" y="156692"/>
              <a:ext cx="2714206" cy="672625"/>
            </a:xfrm>
            <a:prstGeom prst="rect">
              <a:avLst/>
            </a:prstGeom>
            <a:noFill/>
            <a:effectLst>
              <a:innerShdw blurRad="63500" dist="50800" dir="13500000">
                <a:prstClr val="black">
                  <a:alpha val="50000"/>
                </a:prstClr>
              </a:inn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8B573A2C-D231-48D2-80B3-71CE239D4323}"/>
              </a:ext>
            </a:extLst>
          </p:cNvPr>
          <p:cNvSpPr/>
          <p:nvPr/>
        </p:nvSpPr>
        <p:spPr>
          <a:xfrm rot="1572022">
            <a:off x="10809507" y="1902156"/>
            <a:ext cx="2247859" cy="62921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Cyrl-RS"/>
          </a:p>
        </p:txBody>
      </p:sp>
      <p:sp>
        <p:nvSpPr>
          <p:cNvPr id="3" name="AutoShape 2" descr="Dotnet Vector SVG Icon - SVG Repo">
            <a:extLst>
              <a:ext uri="{FF2B5EF4-FFF2-40B4-BE49-F238E27FC236}">
                <a16:creationId xmlns:a16="http://schemas.microsoft.com/office/drawing/2014/main" id="{8731E42B-967B-48CD-92FB-2F8A02652C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r-Cyrl-RS"/>
          </a:p>
        </p:txBody>
      </p:sp>
      <p:sp>
        <p:nvSpPr>
          <p:cNvPr id="4" name="AutoShape 4" descr="Dotnet Vector SVG Icon - SVG Repo">
            <a:extLst>
              <a:ext uri="{FF2B5EF4-FFF2-40B4-BE49-F238E27FC236}">
                <a16:creationId xmlns:a16="http://schemas.microsoft.com/office/drawing/2014/main" id="{90C3AB03-2827-4FDD-8469-872D0BC578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r-Cyrl-RS"/>
          </a:p>
        </p:txBody>
      </p:sp>
      <p:pic>
        <p:nvPicPr>
          <p:cNvPr id="15364" name="Picture 4" descr="NET monitoring &amp; observability | Dynatrace Hub">
            <a:extLst>
              <a:ext uri="{FF2B5EF4-FFF2-40B4-BE49-F238E27FC236}">
                <a16:creationId xmlns:a16="http://schemas.microsoft.com/office/drawing/2014/main" id="{AB0ACA7C-7BCD-4574-B7DA-712FD9E9E4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6021" y="5257800"/>
            <a:ext cx="1532153" cy="1532153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7619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3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6FB73-83A2-48F4-8676-24613C81A4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38399" y="204317"/>
            <a:ext cx="9467431" cy="976783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ED7D31"/>
                </a:solidFill>
                <a:latin typeface="Arial Black" panose="020B0A04020102020204" pitchFamily="34" charset="0"/>
              </a:rPr>
              <a:t>UNIT TESTOVI</a:t>
            </a:r>
            <a:endParaRPr lang="sr-Cyrl-RS" sz="5400" dirty="0">
              <a:solidFill>
                <a:srgbClr val="ED7D3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C8C4DCD-EE29-40E9-80A5-38F5B18BDA49}"/>
              </a:ext>
            </a:extLst>
          </p:cNvPr>
          <p:cNvSpPr txBox="1">
            <a:spLocks/>
          </p:cNvSpPr>
          <p:nvPr/>
        </p:nvSpPr>
        <p:spPr>
          <a:xfrm>
            <a:off x="1643273" y="2366363"/>
            <a:ext cx="8961798" cy="470535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Šta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su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Unit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testovi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i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čemu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služe</a:t>
            </a:r>
            <a:endParaRPr lang="en-U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Šta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je Mock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i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kako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se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koristi</a:t>
            </a:r>
            <a:endParaRPr lang="en-U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Primena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i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značaj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AI u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testiranju</a:t>
            </a:r>
            <a:endParaRPr lang="sr-Cyrl-R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169F84E-E206-4A3E-9ADD-ADB182D169BD}"/>
              </a:ext>
            </a:extLst>
          </p:cNvPr>
          <p:cNvGrpSpPr/>
          <p:nvPr/>
        </p:nvGrpSpPr>
        <p:grpSpPr>
          <a:xfrm>
            <a:off x="-934818" y="-1207369"/>
            <a:ext cx="3935194" cy="6292184"/>
            <a:chOff x="-934818" y="-1207369"/>
            <a:chExt cx="3935194" cy="62921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7C8D04-B665-4BFE-84EC-DFC1284DEE60}"/>
                </a:ext>
              </a:extLst>
            </p:cNvPr>
            <p:cNvSpPr/>
            <p:nvPr/>
          </p:nvSpPr>
          <p:spPr>
            <a:xfrm rot="1572022">
              <a:off x="-934818" y="-1207369"/>
              <a:ext cx="2247859" cy="6292184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r-Cyrl-RS"/>
            </a:p>
          </p:txBody>
        </p:sp>
        <p:pic>
          <p:nvPicPr>
            <p:cNvPr id="1026" name="Picture 2" descr="INIT Technologies – Fairs PKS">
              <a:extLst>
                <a:ext uri="{FF2B5EF4-FFF2-40B4-BE49-F238E27FC236}">
                  <a16:creationId xmlns:a16="http://schemas.microsoft.com/office/drawing/2014/main" id="{2D5FEE06-4CF0-4B7E-8197-A0F3E865E7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170" y="156692"/>
              <a:ext cx="2714206" cy="672625"/>
            </a:xfrm>
            <a:prstGeom prst="rect">
              <a:avLst/>
            </a:prstGeom>
            <a:noFill/>
            <a:effectLst>
              <a:innerShdw blurRad="63500" dist="50800" dir="13500000">
                <a:prstClr val="black">
                  <a:alpha val="50000"/>
                </a:prstClr>
              </a:inn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8B573A2C-D231-48D2-80B3-71CE239D4323}"/>
              </a:ext>
            </a:extLst>
          </p:cNvPr>
          <p:cNvSpPr/>
          <p:nvPr/>
        </p:nvSpPr>
        <p:spPr>
          <a:xfrm rot="1572022">
            <a:off x="10809507" y="1902156"/>
            <a:ext cx="2247859" cy="62921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Cyrl-RS"/>
          </a:p>
        </p:txBody>
      </p:sp>
      <p:sp>
        <p:nvSpPr>
          <p:cNvPr id="3" name="AutoShape 2" descr="Dotnet Vector SVG Icon - SVG Repo">
            <a:extLst>
              <a:ext uri="{FF2B5EF4-FFF2-40B4-BE49-F238E27FC236}">
                <a16:creationId xmlns:a16="http://schemas.microsoft.com/office/drawing/2014/main" id="{8731E42B-967B-48CD-92FB-2F8A02652C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r-Cyrl-RS"/>
          </a:p>
        </p:txBody>
      </p:sp>
      <p:sp>
        <p:nvSpPr>
          <p:cNvPr id="4" name="AutoShape 4" descr="Dotnet Vector SVG Icon - SVG Repo">
            <a:extLst>
              <a:ext uri="{FF2B5EF4-FFF2-40B4-BE49-F238E27FC236}">
                <a16:creationId xmlns:a16="http://schemas.microsoft.com/office/drawing/2014/main" id="{90C3AB03-2827-4FDD-8469-872D0BC578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r-Cyrl-RS"/>
          </a:p>
        </p:txBody>
      </p:sp>
      <p:pic>
        <p:nvPicPr>
          <p:cNvPr id="16386" name="Picture 2" descr="Unit testing - Free technology icons">
            <a:extLst>
              <a:ext uri="{FF2B5EF4-FFF2-40B4-BE49-F238E27FC236}">
                <a16:creationId xmlns:a16="http://schemas.microsoft.com/office/drawing/2014/main" id="{31D24BBA-7F15-45C8-B8EE-AB6E1BDF6B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9299" y="5400675"/>
            <a:ext cx="1167196" cy="1167196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9073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3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6FB73-83A2-48F4-8676-24613C81A4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38399" y="204317"/>
            <a:ext cx="9467431" cy="976783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US" sz="5400" dirty="0">
                <a:solidFill>
                  <a:srgbClr val="ED7D31"/>
                </a:solidFill>
                <a:latin typeface="Arial Black" panose="020B0A04020102020204" pitchFamily="34" charset="0"/>
              </a:rPr>
              <a:t>MOJI UTISCI I ISKUSTVO</a:t>
            </a:r>
            <a:endParaRPr lang="sr-Cyrl-RS" sz="5400" dirty="0">
              <a:solidFill>
                <a:srgbClr val="ED7D3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C8C4DCD-EE29-40E9-80A5-38F5B18BDA49}"/>
              </a:ext>
            </a:extLst>
          </p:cNvPr>
          <p:cNvSpPr txBox="1">
            <a:spLocks/>
          </p:cNvSpPr>
          <p:nvPr/>
        </p:nvSpPr>
        <p:spPr>
          <a:xfrm>
            <a:off x="2186601" y="2089496"/>
            <a:ext cx="8961798" cy="470535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Proširenje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znanja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tokom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rada</a:t>
            </a:r>
            <a:endParaRPr lang="en-U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Poteškoće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sa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kojim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sam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 se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sretao</a:t>
            </a:r>
            <a:endParaRPr lang="en-U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50000"/>
              </a:lnSpc>
              <a:buFontTx/>
              <a:buChar char="-"/>
            </a:pP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Overall </a:t>
            </a:r>
            <a:r>
              <a:rPr lang="en-US" sz="3600" dirty="0" err="1">
                <a:solidFill>
                  <a:schemeClr val="bg1"/>
                </a:solidFill>
                <a:latin typeface="Arial Black" panose="020B0A04020102020204" pitchFamily="34" charset="0"/>
              </a:rPr>
              <a:t>iskustvo</a:t>
            </a:r>
            <a:endParaRPr lang="sr-Cyrl-R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169F84E-E206-4A3E-9ADD-ADB182D169BD}"/>
              </a:ext>
            </a:extLst>
          </p:cNvPr>
          <p:cNvGrpSpPr/>
          <p:nvPr/>
        </p:nvGrpSpPr>
        <p:grpSpPr>
          <a:xfrm>
            <a:off x="-934818" y="-1207369"/>
            <a:ext cx="3935194" cy="6292184"/>
            <a:chOff x="-934818" y="-1207369"/>
            <a:chExt cx="3935194" cy="62921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7C8D04-B665-4BFE-84EC-DFC1284DEE60}"/>
                </a:ext>
              </a:extLst>
            </p:cNvPr>
            <p:cNvSpPr/>
            <p:nvPr/>
          </p:nvSpPr>
          <p:spPr>
            <a:xfrm rot="1572022">
              <a:off x="-934818" y="-1207369"/>
              <a:ext cx="2247859" cy="6292184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r-Cyrl-RS"/>
            </a:p>
          </p:txBody>
        </p:sp>
        <p:pic>
          <p:nvPicPr>
            <p:cNvPr id="1026" name="Picture 2" descr="INIT Technologies – Fairs PKS">
              <a:extLst>
                <a:ext uri="{FF2B5EF4-FFF2-40B4-BE49-F238E27FC236}">
                  <a16:creationId xmlns:a16="http://schemas.microsoft.com/office/drawing/2014/main" id="{2D5FEE06-4CF0-4B7E-8197-A0F3E865E7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170" y="156692"/>
              <a:ext cx="2714206" cy="672625"/>
            </a:xfrm>
            <a:prstGeom prst="rect">
              <a:avLst/>
            </a:prstGeom>
            <a:noFill/>
            <a:effectLst>
              <a:innerShdw blurRad="63500" dist="50800" dir="13500000">
                <a:prstClr val="black">
                  <a:alpha val="50000"/>
                </a:prstClr>
              </a:inn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8B573A2C-D231-48D2-80B3-71CE239D4323}"/>
              </a:ext>
            </a:extLst>
          </p:cNvPr>
          <p:cNvSpPr/>
          <p:nvPr/>
        </p:nvSpPr>
        <p:spPr>
          <a:xfrm rot="1572022">
            <a:off x="10809507" y="1902156"/>
            <a:ext cx="2247859" cy="62921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Cyrl-RS"/>
          </a:p>
        </p:txBody>
      </p:sp>
      <p:sp>
        <p:nvSpPr>
          <p:cNvPr id="3" name="AutoShape 2" descr="Dotnet Vector SVG Icon - SVG Repo">
            <a:extLst>
              <a:ext uri="{FF2B5EF4-FFF2-40B4-BE49-F238E27FC236}">
                <a16:creationId xmlns:a16="http://schemas.microsoft.com/office/drawing/2014/main" id="{8731E42B-967B-48CD-92FB-2F8A02652C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r-Cyrl-RS"/>
          </a:p>
        </p:txBody>
      </p:sp>
      <p:sp>
        <p:nvSpPr>
          <p:cNvPr id="4" name="AutoShape 4" descr="Dotnet Vector SVG Icon - SVG Repo">
            <a:extLst>
              <a:ext uri="{FF2B5EF4-FFF2-40B4-BE49-F238E27FC236}">
                <a16:creationId xmlns:a16="http://schemas.microsoft.com/office/drawing/2014/main" id="{90C3AB03-2827-4FDD-8469-872D0BC578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r-Cyrl-RS"/>
          </a:p>
        </p:txBody>
      </p:sp>
      <p:pic>
        <p:nvPicPr>
          <p:cNvPr id="17410" name="Picture 2" descr="User experience - Free electronics icons">
            <a:extLst>
              <a:ext uri="{FF2B5EF4-FFF2-40B4-BE49-F238E27FC236}">
                <a16:creationId xmlns:a16="http://schemas.microsoft.com/office/drawing/2014/main" id="{53CEF9D4-5593-46AA-990D-86992236AF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3699" y="5158258"/>
            <a:ext cx="1495425" cy="1495425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9905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3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3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6FB73-83A2-48F4-8676-24613C81A4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7244" y="1526146"/>
            <a:ext cx="9057511" cy="4179329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/>
          <a:p>
            <a:r>
              <a:rPr lang="en-US" sz="8000" dirty="0">
                <a:solidFill>
                  <a:srgbClr val="ED7D31"/>
                </a:solidFill>
                <a:latin typeface="Arial Black" panose="020B0A04020102020204" pitchFamily="34" charset="0"/>
              </a:rPr>
              <a:t>DISKUSIJA I PITANJA</a:t>
            </a:r>
            <a:endParaRPr lang="sr-Cyrl-RS" sz="8000" dirty="0">
              <a:solidFill>
                <a:srgbClr val="ED7D31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169F84E-E206-4A3E-9ADD-ADB182D169BD}"/>
              </a:ext>
            </a:extLst>
          </p:cNvPr>
          <p:cNvGrpSpPr/>
          <p:nvPr/>
        </p:nvGrpSpPr>
        <p:grpSpPr>
          <a:xfrm>
            <a:off x="-934818" y="-1207369"/>
            <a:ext cx="3935194" cy="6292184"/>
            <a:chOff x="-934818" y="-1207369"/>
            <a:chExt cx="3935194" cy="62921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7C8D04-B665-4BFE-84EC-DFC1284DEE60}"/>
                </a:ext>
              </a:extLst>
            </p:cNvPr>
            <p:cNvSpPr/>
            <p:nvPr/>
          </p:nvSpPr>
          <p:spPr>
            <a:xfrm rot="1572022">
              <a:off x="-934818" y="-1207369"/>
              <a:ext cx="2247859" cy="6292184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r-Cyrl-RS"/>
            </a:p>
          </p:txBody>
        </p:sp>
        <p:pic>
          <p:nvPicPr>
            <p:cNvPr id="1026" name="Picture 2" descr="INIT Technologies – Fairs PKS">
              <a:extLst>
                <a:ext uri="{FF2B5EF4-FFF2-40B4-BE49-F238E27FC236}">
                  <a16:creationId xmlns:a16="http://schemas.microsoft.com/office/drawing/2014/main" id="{2D5FEE06-4CF0-4B7E-8197-A0F3E865E7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170" y="156692"/>
              <a:ext cx="2714206" cy="672625"/>
            </a:xfrm>
            <a:prstGeom prst="rect">
              <a:avLst/>
            </a:prstGeom>
            <a:noFill/>
            <a:effectLst>
              <a:innerShdw blurRad="63500" dist="50800" dir="13500000">
                <a:prstClr val="black">
                  <a:alpha val="50000"/>
                </a:prstClr>
              </a:inn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8B573A2C-D231-48D2-80B3-71CE239D4323}"/>
              </a:ext>
            </a:extLst>
          </p:cNvPr>
          <p:cNvSpPr/>
          <p:nvPr/>
        </p:nvSpPr>
        <p:spPr>
          <a:xfrm rot="1572022">
            <a:off x="10809507" y="1902156"/>
            <a:ext cx="2247859" cy="62921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Cyrl-RS"/>
          </a:p>
        </p:txBody>
      </p:sp>
      <p:sp>
        <p:nvSpPr>
          <p:cNvPr id="3" name="AutoShape 2" descr="Dotnet Vector SVG Icon - SVG Repo">
            <a:extLst>
              <a:ext uri="{FF2B5EF4-FFF2-40B4-BE49-F238E27FC236}">
                <a16:creationId xmlns:a16="http://schemas.microsoft.com/office/drawing/2014/main" id="{8731E42B-967B-48CD-92FB-2F8A02652C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r-Cyrl-RS"/>
          </a:p>
        </p:txBody>
      </p:sp>
      <p:sp>
        <p:nvSpPr>
          <p:cNvPr id="4" name="AutoShape 4" descr="Dotnet Vector SVG Icon - SVG Repo">
            <a:extLst>
              <a:ext uri="{FF2B5EF4-FFF2-40B4-BE49-F238E27FC236}">
                <a16:creationId xmlns:a16="http://schemas.microsoft.com/office/drawing/2014/main" id="{90C3AB03-2827-4FDD-8469-872D0BC578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r-Cyrl-RS"/>
          </a:p>
        </p:txBody>
      </p:sp>
      <p:pic>
        <p:nvPicPr>
          <p:cNvPr id="18434" name="Picture 2" descr="Discussion - Free people icons">
            <a:extLst>
              <a:ext uri="{FF2B5EF4-FFF2-40B4-BE49-F238E27FC236}">
                <a16:creationId xmlns:a16="http://schemas.microsoft.com/office/drawing/2014/main" id="{BABD469D-2FD2-46D2-8D39-4E052CAE50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4754" y="5319147"/>
            <a:ext cx="1308681" cy="1308681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6356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6FB73-83A2-48F4-8676-24613C81A4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0671" y="1078471"/>
            <a:ext cx="9057511" cy="4179329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/>
          <a:p>
            <a:r>
              <a:rPr lang="en-US" sz="8000" dirty="0">
                <a:solidFill>
                  <a:srgbClr val="ED7D31"/>
                </a:solidFill>
                <a:latin typeface="Arial Black" panose="020B0A04020102020204" pitchFamily="34" charset="0"/>
              </a:rPr>
              <a:t>KRAJ</a:t>
            </a:r>
            <a:endParaRPr lang="sr-Cyrl-RS" sz="8000" dirty="0">
              <a:solidFill>
                <a:srgbClr val="ED7D31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169F84E-E206-4A3E-9ADD-ADB182D169BD}"/>
              </a:ext>
            </a:extLst>
          </p:cNvPr>
          <p:cNvGrpSpPr/>
          <p:nvPr/>
        </p:nvGrpSpPr>
        <p:grpSpPr>
          <a:xfrm>
            <a:off x="-934818" y="-1207369"/>
            <a:ext cx="3935194" cy="6292184"/>
            <a:chOff x="-934818" y="-1207369"/>
            <a:chExt cx="3935194" cy="62921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7C8D04-B665-4BFE-84EC-DFC1284DEE60}"/>
                </a:ext>
              </a:extLst>
            </p:cNvPr>
            <p:cNvSpPr/>
            <p:nvPr/>
          </p:nvSpPr>
          <p:spPr>
            <a:xfrm rot="1572022">
              <a:off x="-934818" y="-1207369"/>
              <a:ext cx="2247859" cy="6292184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r-Cyrl-RS"/>
            </a:p>
          </p:txBody>
        </p:sp>
        <p:pic>
          <p:nvPicPr>
            <p:cNvPr id="1026" name="Picture 2" descr="INIT Technologies – Fairs PKS">
              <a:extLst>
                <a:ext uri="{FF2B5EF4-FFF2-40B4-BE49-F238E27FC236}">
                  <a16:creationId xmlns:a16="http://schemas.microsoft.com/office/drawing/2014/main" id="{2D5FEE06-4CF0-4B7E-8197-A0F3E865E7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170" y="156692"/>
              <a:ext cx="2714206" cy="672625"/>
            </a:xfrm>
            <a:prstGeom prst="rect">
              <a:avLst/>
            </a:prstGeom>
            <a:noFill/>
            <a:effectLst>
              <a:innerShdw blurRad="63500" dist="50800" dir="13500000">
                <a:prstClr val="black">
                  <a:alpha val="50000"/>
                </a:prstClr>
              </a:inn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8B573A2C-D231-48D2-80B3-71CE239D4323}"/>
              </a:ext>
            </a:extLst>
          </p:cNvPr>
          <p:cNvSpPr/>
          <p:nvPr/>
        </p:nvSpPr>
        <p:spPr>
          <a:xfrm rot="1572022">
            <a:off x="10809507" y="1902156"/>
            <a:ext cx="2247859" cy="62921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Cyrl-RS"/>
          </a:p>
        </p:txBody>
      </p:sp>
      <p:sp>
        <p:nvSpPr>
          <p:cNvPr id="3" name="AutoShape 2" descr="Dotnet Vector SVG Icon - SVG Repo">
            <a:extLst>
              <a:ext uri="{FF2B5EF4-FFF2-40B4-BE49-F238E27FC236}">
                <a16:creationId xmlns:a16="http://schemas.microsoft.com/office/drawing/2014/main" id="{8731E42B-967B-48CD-92FB-2F8A02652C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r-Cyrl-RS"/>
          </a:p>
        </p:txBody>
      </p:sp>
      <p:sp>
        <p:nvSpPr>
          <p:cNvPr id="4" name="AutoShape 4" descr="Dotnet Vector SVG Icon - SVG Repo">
            <a:extLst>
              <a:ext uri="{FF2B5EF4-FFF2-40B4-BE49-F238E27FC236}">
                <a16:creationId xmlns:a16="http://schemas.microsoft.com/office/drawing/2014/main" id="{90C3AB03-2827-4FDD-8469-872D0BC578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r-Cyrl-R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EA73F57-0B48-43C6-A2A6-6926EBE329CB}"/>
              </a:ext>
            </a:extLst>
          </p:cNvPr>
          <p:cNvSpPr txBox="1">
            <a:spLocks/>
          </p:cNvSpPr>
          <p:nvPr/>
        </p:nvSpPr>
        <p:spPr>
          <a:xfrm>
            <a:off x="1719644" y="1861025"/>
            <a:ext cx="9057511" cy="4179329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chemeClr val="bg1"/>
                </a:solidFill>
                <a:latin typeface="Arial Black" panose="020B0A04020102020204" pitchFamily="34" charset="0"/>
              </a:rPr>
              <a:t>HVALA NA PAŽNJI!</a:t>
            </a:r>
            <a:endParaRPr lang="sr-Cyrl-RS" sz="4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0160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335</Words>
  <Application>Microsoft Office PowerPoint</Application>
  <PresentationFormat>Widescreen</PresentationFormat>
  <Paragraphs>86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Arial Black</vt:lpstr>
      <vt:lpstr>Calibri</vt:lpstr>
      <vt:lpstr>Calibri Light</vt:lpstr>
      <vt:lpstr>Office Theme</vt:lpstr>
      <vt:lpstr>RestAPI</vt:lpstr>
      <vt:lpstr>O PROJEKTU</vt:lpstr>
      <vt:lpstr>MQTT PROTOKOL</vt:lpstr>
      <vt:lpstr>IMPLEMENTACIJA MQTT U PROJEKTU</vt:lpstr>
      <vt:lpstr>PROJEKAT OD KOG JE SVE POČELO - ConsoleApp</vt:lpstr>
      <vt:lpstr>KORAK DALJE - BACKEND</vt:lpstr>
      <vt:lpstr>KORAK DALJE - BACKEND</vt:lpstr>
      <vt:lpstr>BAZA PODATAKA I REDIS</vt:lpstr>
      <vt:lpstr>LOGGING</vt:lpstr>
      <vt:lpstr>DOCKERIZATION</vt:lpstr>
      <vt:lpstr>DOCKERIZATION</vt:lpstr>
      <vt:lpstr>DOCKERIZATION</vt:lpstr>
      <vt:lpstr>JWT AUTHENTICATION</vt:lpstr>
      <vt:lpstr>ŠTA UVODI MOGUĆNOST UPOTREBE NALOGA</vt:lpstr>
      <vt:lpstr>SIMULATOR</vt:lpstr>
      <vt:lpstr>SIMULATOR</vt:lpstr>
      <vt:lpstr>ADMINSKO UPRAVLJANJE NAD SIMULATORA PUTEM MQTT</vt:lpstr>
      <vt:lpstr>PROJEKAT NAKON PODELE ULOGA</vt:lpstr>
      <vt:lpstr>ALARMI</vt:lpstr>
      <vt:lpstr>SIGNALIR</vt:lpstr>
      <vt:lpstr>UNIT TESTOVI</vt:lpstr>
      <vt:lpstr>MOJI UTISCI I ISKUSTVO</vt:lpstr>
      <vt:lpstr>DISKUSIJA I PITANJA</vt:lpstr>
      <vt:lpstr>KRAJ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RestAPI</dc:title>
  <dc:creator>Nikola Tasić</dc:creator>
  <cp:lastModifiedBy>Nikola Tasić</cp:lastModifiedBy>
  <cp:revision>331</cp:revision>
  <dcterms:created xsi:type="dcterms:W3CDTF">2026-10-15T16:45:00Z</dcterms:created>
  <dcterms:modified xsi:type="dcterms:W3CDTF">2026-10-15T21:42:26Z</dcterms:modified>
</cp:coreProperties>
</file>