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90393-6EEF-4B83-D8BE-A171B0BBA894}" v="3" dt="2026-10-16T06:20:03.966"/>
    <p1510:client id="{C5EBBAB9-89C1-EEDF-7061-70109866E459}" v="63" dt="2026-10-16T06:41:18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sr-Latn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21A4D6-50CD-4261-8069-AE7CDC074B4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tile tx="0" ty="0" sx="99987" sy="99986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sr-Latn-R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71D482-9A20-4E08-B9D1-FBB49F011B4A}" type="slidenum">
              <a:rPr lang="sr-R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sr-Latn-R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sr-Latn-R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/>
          <p:cNvPicPr/>
          <p:nvPr/>
        </p:nvPicPr>
        <p:blipFill>
          <a:blip r:embed="rId2"/>
          <a:stretch/>
        </p:blipFill>
        <p:spPr>
          <a:xfrm>
            <a:off x="968760" y="0"/>
            <a:ext cx="12615120" cy="709560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68760" y="2119680"/>
            <a:ext cx="4893480" cy="130896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7000" b="0" strike="noStrike" spc="-1">
                <a:solidFill>
                  <a:srgbClr val="ED7D31"/>
                </a:solidFill>
                <a:latin typeface="Arial Black"/>
              </a:rPr>
              <a:t>RestAPI</a:t>
            </a:r>
            <a:endParaRPr lang="sr-Latn-RS" sz="7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Rectangle 5"/>
          <p:cNvSpPr/>
          <p:nvPr/>
        </p:nvSpPr>
        <p:spPr>
          <a:xfrm rot="1572000">
            <a:off x="-934560" y="-12070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itle 1"/>
          <p:cNvSpPr/>
          <p:nvPr/>
        </p:nvSpPr>
        <p:spPr>
          <a:xfrm>
            <a:off x="625324" y="3283560"/>
            <a:ext cx="5081519" cy="58428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3200" b="0" strike="noStrike" spc="-1" dirty="0">
                <a:solidFill>
                  <a:schemeClr val="lt1"/>
                </a:solidFill>
                <a:latin typeface="Arial Black"/>
              </a:rPr>
              <a:t>Backend </a:t>
            </a:r>
            <a:r>
              <a:rPr lang="en-US" sz="3200" b="0" strike="noStrike" spc="-1" dirty="0" err="1">
                <a:solidFill>
                  <a:schemeClr val="lt1"/>
                </a:solidFill>
                <a:latin typeface="Arial Black"/>
              </a:rPr>
              <a:t>Projekat</a:t>
            </a:r>
            <a:endParaRPr lang="en-US" sz="3200" b="0" strike="noStrike" spc="-1">
              <a:solidFill>
                <a:schemeClr val="lt1"/>
              </a:solidFill>
              <a:latin typeface="Arial"/>
              <a:cs typeface="Arial"/>
            </a:endParaRPr>
          </a:p>
        </p:txBody>
      </p:sp>
      <p:sp>
        <p:nvSpPr>
          <p:cNvPr id="70" name="Title 1"/>
          <p:cNvSpPr/>
          <p:nvPr/>
        </p:nvSpPr>
        <p:spPr>
          <a:xfrm>
            <a:off x="-31320" y="6552720"/>
            <a:ext cx="2253600" cy="27936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23329"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6600" b="0" strike="noStrike" spc="-1">
                <a:solidFill>
                  <a:schemeClr val="accent3">
                    <a:lumMod val="60000"/>
                    <a:lumOff val="40000"/>
                  </a:schemeClr>
                </a:solidFill>
                <a:latin typeface="Arial Black"/>
              </a:rPr>
              <a:t>By Nikola Tasić</a:t>
            </a:r>
            <a:endParaRPr lang="en-US" sz="6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Picture 2" descr="INIT Technologies – Fairs PKS"/>
          <p:cNvPicPr/>
          <p:nvPr/>
        </p:nvPicPr>
        <p:blipFill>
          <a:blip r:embed="rId3"/>
          <a:stretch/>
        </p:blipFill>
        <p:spPr>
          <a:xfrm>
            <a:off x="286200" y="156600"/>
            <a:ext cx="2713680" cy="67212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62080" y="204480"/>
            <a:ext cx="10775677" cy="1180172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ED7D31"/>
                </a:solidFill>
                <a:latin typeface="Arial Black"/>
              </a:rPr>
              <a:t>O PROJEKTU</a:t>
            </a:r>
            <a:endParaRPr lang="sr-Latn-RS" sz="6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Title 1"/>
          <p:cNvSpPr/>
          <p:nvPr/>
        </p:nvSpPr>
        <p:spPr>
          <a:xfrm>
            <a:off x="1724040" y="2347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cilj projekta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Koje tehnologije su korišćene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Tok izrade projekta (ukratko)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" name="Group 11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7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7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7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8" descr="Dotnet Logo PNG Transparent &amp; SVG Vector - Freebie Supply"/>
          <p:cNvPicPr/>
          <p:nvPr/>
        </p:nvPicPr>
        <p:blipFill>
          <a:blip r:embed="rId3"/>
          <a:stretch/>
        </p:blipFill>
        <p:spPr>
          <a:xfrm>
            <a:off x="2238480" y="4131000"/>
            <a:ext cx="734040" cy="699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1" name="Picture 10" descr="MQTT - Bindings | openHAB"/>
          <p:cNvPicPr/>
          <p:nvPr/>
        </p:nvPicPr>
        <p:blipFill>
          <a:blip r:embed="rId4"/>
          <a:stretch/>
        </p:blipFill>
        <p:spPr>
          <a:xfrm>
            <a:off x="3315240" y="4131000"/>
            <a:ext cx="822960" cy="74412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2" name="Picture 12" descr="Docker - Free brands and logotypes icons"/>
          <p:cNvPicPr/>
          <p:nvPr/>
        </p:nvPicPr>
        <p:blipFill>
          <a:blip r:embed="rId5"/>
          <a:stretch/>
        </p:blipFill>
        <p:spPr>
          <a:xfrm>
            <a:off x="4513320" y="4131000"/>
            <a:ext cx="699840" cy="699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3" name="Picture 14" descr="MariaDB · GitHub"/>
          <p:cNvPicPr/>
          <p:nvPr/>
        </p:nvPicPr>
        <p:blipFill>
          <a:blip r:embed="rId6"/>
          <a:stretch/>
        </p:blipFill>
        <p:spPr>
          <a:xfrm>
            <a:off x="5587920" y="4091400"/>
            <a:ext cx="822960" cy="82296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4" name="Picture 20" descr="How to install Redis configuration on HestiaCP – Ultratech Solution"/>
          <p:cNvPicPr/>
          <p:nvPr/>
        </p:nvPicPr>
        <p:blipFill>
          <a:blip r:embed="rId7"/>
          <a:stretch/>
        </p:blipFill>
        <p:spPr>
          <a:xfrm>
            <a:off x="6679800" y="4091400"/>
            <a:ext cx="928080" cy="78336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85" name="Picture 22" descr="Download Free Information Icons in PNG &amp; SVG | Magnific (formerly Freepik)"/>
          <p:cNvPicPr/>
          <p:nvPr/>
        </p:nvPicPr>
        <p:blipFill>
          <a:blip r:embed="rId8"/>
          <a:stretch/>
        </p:blipFill>
        <p:spPr>
          <a:xfrm>
            <a:off x="10738800" y="5257800"/>
            <a:ext cx="1319400" cy="1319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86" name="Picture 24" descr="Github Logo - Free social media icons"/>
          <p:cNvPicPr/>
          <p:nvPr/>
        </p:nvPicPr>
        <p:blipFill>
          <a:blip r:embed="rId9"/>
          <a:stretch/>
        </p:blipFill>
        <p:spPr>
          <a:xfrm>
            <a:off x="7828200" y="4075200"/>
            <a:ext cx="799920" cy="799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7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300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9" dur="3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3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66920" y="161551"/>
            <a:ext cx="9670837" cy="1233833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rgbClr val="ED7D31"/>
                </a:solidFill>
                <a:latin typeface="Arial Black"/>
              </a:rPr>
              <a:t>MQTT PROTOKOL</a:t>
            </a:r>
            <a:endParaRPr lang="sr-Latn-RS" sz="6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Rectangle 5"/>
          <p:cNvSpPr/>
          <p:nvPr/>
        </p:nvSpPr>
        <p:spPr>
          <a:xfrm rot="1572000">
            <a:off x="-934560" y="-12070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itle 1"/>
          <p:cNvSpPr/>
          <p:nvPr/>
        </p:nvSpPr>
        <p:spPr>
          <a:xfrm>
            <a:off x="1857240" y="1600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O protokolu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sadrži protocol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Objašnjenje pojmova: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Picture 2" descr="INIT Technologies – Fairs PKS"/>
          <p:cNvPicPr/>
          <p:nvPr/>
        </p:nvPicPr>
        <p:blipFill>
          <a:blip r:embed="rId2"/>
          <a:stretch/>
        </p:blipFill>
        <p:spPr>
          <a:xfrm>
            <a:off x="286200" y="156600"/>
            <a:ext cx="2713680" cy="67212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  <p:sp>
        <p:nvSpPr>
          <p:cNvPr id="9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itle 1"/>
          <p:cNvSpPr/>
          <p:nvPr/>
        </p:nvSpPr>
        <p:spPr>
          <a:xfrm>
            <a:off x="2474280" y="416844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Topic (kuca/soba/temperatura)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Wildcard (kuca/+/test ili kuca/#)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QoS 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000" b="0" strike="noStrike" spc="-1">
                <a:solidFill>
                  <a:schemeClr val="lt1"/>
                </a:solidFill>
                <a:latin typeface="Arial Black"/>
              </a:rPr>
              <a:t>Retain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Picture 10" descr="MQTT - Bindings | openHAB"/>
          <p:cNvPicPr/>
          <p:nvPr/>
        </p:nvPicPr>
        <p:blipFill>
          <a:blip r:embed="rId3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486160" y="204480"/>
            <a:ext cx="94194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IMPLEMENTACIJA MQTT U PROJEKTU</a:t>
            </a:r>
            <a:endParaRPr lang="sr-Latn-RS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itle 1"/>
          <p:cNvSpPr/>
          <p:nvPr/>
        </p:nvSpPr>
        <p:spPr>
          <a:xfrm>
            <a:off x="2033280" y="289764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Početna implementacija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Implementacija u kasnijim projektima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8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99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0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0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4" name="Picture 2" descr="C sharp - Free ui icons"/>
          <p:cNvPicPr/>
          <p:nvPr/>
        </p:nvPicPr>
        <p:blipFill>
          <a:blip r:embed="rId3"/>
          <a:stretch/>
        </p:blipFill>
        <p:spPr>
          <a:xfrm>
            <a:off x="10663200" y="5372280"/>
            <a:ext cx="1281240" cy="12812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28760" y="264240"/>
            <a:ext cx="95148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PROJEKAT OD KOG JE SVE POČELO - </a:t>
            </a:r>
            <a:r>
              <a:rPr lang="en-US" sz="4800" b="0" strike="noStrike" spc="-1" dirty="0" err="1">
                <a:solidFill>
                  <a:srgbClr val="ED7D31"/>
                </a:solidFill>
                <a:latin typeface="Arial Black"/>
              </a:rPr>
              <a:t>ConsoleApp</a:t>
            </a:r>
            <a:endParaRPr lang="sr-Latn-RS" sz="4800" b="0" strike="noStrike" spc="-1" dirty="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Title 1"/>
          <p:cNvSpPr/>
          <p:nvPr/>
        </p:nvSpPr>
        <p:spPr>
          <a:xfrm>
            <a:off x="1504800" y="29052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cilj prvog projekta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ostvaren cilj projekta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Funkcionalnosti projekta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0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Picture 2" descr="Compare Terminal.app vs. Windows Terminal - Terminal Trove"/>
          <p:cNvPicPr/>
          <p:nvPr/>
        </p:nvPicPr>
        <p:blipFill>
          <a:blip r:embed="rId3"/>
          <a:stretch/>
        </p:blipFill>
        <p:spPr>
          <a:xfrm>
            <a:off x="10485000" y="5353200"/>
            <a:ext cx="1504440" cy="150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1B3B-7DB6-A539-94F3-8696EDD0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>
            <a:extLst>
              <a:ext uri="{FF2B5EF4-FFF2-40B4-BE49-F238E27FC236}">
                <a16:creationId xmlns:a16="http://schemas.microsoft.com/office/drawing/2014/main" id="{03E4593F-030C-829E-D4F0-F0CC9BCD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760" y="264240"/>
            <a:ext cx="9514800" cy="15955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PROJEKAT OD KOG JE SVE POČELO - </a:t>
            </a:r>
            <a:r>
              <a:rPr lang="en-US" sz="4800" b="0" strike="noStrike" spc="-1" dirty="0" err="1">
                <a:solidFill>
                  <a:srgbClr val="ED7D31"/>
                </a:solidFill>
                <a:latin typeface="Arial Black"/>
              </a:rPr>
              <a:t>ConsoleApp</a:t>
            </a:r>
            <a:endParaRPr lang="sr-Latn-RS" sz="4800" b="0" strike="noStrike" spc="-1" dirty="0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07" name="Group 4">
            <a:extLst>
              <a:ext uri="{FF2B5EF4-FFF2-40B4-BE49-F238E27FC236}">
                <a16:creationId xmlns:a16="http://schemas.microsoft.com/office/drawing/2014/main" id="{3AA04E01-EB2C-43D0-FD95-9F2E645AC37D}"/>
              </a:ext>
            </a:extLst>
          </p:cNvPr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08" name="Rectangle 5">
              <a:extLst>
                <a:ext uri="{FF2B5EF4-FFF2-40B4-BE49-F238E27FC236}">
                  <a16:creationId xmlns:a16="http://schemas.microsoft.com/office/drawing/2014/main" id="{2C442FD7-389E-4567-8921-33E951434BD9}"/>
                </a:ext>
              </a:extLst>
            </p:cNvPr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9" name="Picture 2" descr="INIT Technologies – Fairs PKS">
              <a:extLst>
                <a:ext uri="{FF2B5EF4-FFF2-40B4-BE49-F238E27FC236}">
                  <a16:creationId xmlns:a16="http://schemas.microsoft.com/office/drawing/2014/main" id="{18F05171-5B0E-997D-D627-DB8EE88A56E2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0" name="Rectangle 7">
            <a:extLst>
              <a:ext uri="{FF2B5EF4-FFF2-40B4-BE49-F238E27FC236}">
                <a16:creationId xmlns:a16="http://schemas.microsoft.com/office/drawing/2014/main" id="{ADABC823-4C73-D3A2-0BDC-83B3AF07F69D}"/>
              </a:ext>
            </a:extLst>
          </p:cNvPr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AutoShape 2">
            <a:extLst>
              <a:ext uri="{FF2B5EF4-FFF2-40B4-BE49-F238E27FC236}">
                <a16:creationId xmlns:a16="http://schemas.microsoft.com/office/drawing/2014/main" id="{8309D69A-B80B-5110-61EE-25702A9A0885}"/>
              </a:ext>
            </a:extLst>
          </p:cNvPr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utoShape 4">
            <a:extLst>
              <a:ext uri="{FF2B5EF4-FFF2-40B4-BE49-F238E27FC236}">
                <a16:creationId xmlns:a16="http://schemas.microsoft.com/office/drawing/2014/main" id="{BCE750ED-86ED-797A-7AA5-56D480EA40BE}"/>
              </a:ext>
            </a:extLst>
          </p:cNvPr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Picture 2" descr="Compare Terminal.app vs. Windows Terminal - Terminal Trove">
            <a:extLst>
              <a:ext uri="{FF2B5EF4-FFF2-40B4-BE49-F238E27FC236}">
                <a16:creationId xmlns:a16="http://schemas.microsoft.com/office/drawing/2014/main" id="{E64F47EB-1BF0-96E4-4044-672A98BF3DF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485000" y="5353200"/>
            <a:ext cx="1504440" cy="150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F4CAE8-4B42-BEA5-6AAD-7BEDA4218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33" y="2206916"/>
            <a:ext cx="4062346" cy="39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500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409840" y="166320"/>
            <a:ext cx="949572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KORAK DALJE - BACKEND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itle 1"/>
          <p:cNvSpPr/>
          <p:nvPr/>
        </p:nvSpPr>
        <p:spPr>
          <a:xfrm>
            <a:off x="2929680" y="1164600"/>
            <a:ext cx="979128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Ciljna šema komuikacije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1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1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1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AutoShape 2"/>
          <p:cNvSpPr/>
          <p:nvPr/>
        </p:nvSpPr>
        <p:spPr>
          <a:xfrm>
            <a:off x="5210280" y="351648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AutoShape 4"/>
          <p:cNvSpPr/>
          <p:nvPr/>
        </p:nvSpPr>
        <p:spPr>
          <a:xfrm>
            <a:off x="5362560" y="36687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Picture 2" descr="Client - Free marketing icons"/>
          <p:cNvPicPr/>
          <p:nvPr/>
        </p:nvPicPr>
        <p:blipFill>
          <a:blip r:embed="rId3"/>
          <a:stretch/>
        </p:blipFill>
        <p:spPr>
          <a:xfrm>
            <a:off x="4849200" y="2365560"/>
            <a:ext cx="721800" cy="7218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3" name="Picture 4" descr="Backend - Free seo and web icons"/>
          <p:cNvPicPr/>
          <p:nvPr/>
        </p:nvPicPr>
        <p:blipFill>
          <a:blip r:embed="rId4"/>
          <a:stretch/>
        </p:blipFill>
        <p:spPr>
          <a:xfrm>
            <a:off x="4820400" y="3736080"/>
            <a:ext cx="779400" cy="7794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4" name="Picture 6" descr="Database - Free seo and web icons"/>
          <p:cNvPicPr/>
          <p:nvPr/>
        </p:nvPicPr>
        <p:blipFill>
          <a:blip r:embed="rId5"/>
          <a:stretch/>
        </p:blipFill>
        <p:spPr>
          <a:xfrm>
            <a:off x="7028280" y="3805560"/>
            <a:ext cx="640440" cy="6404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5" name="Picture 20" descr="How to install Redis configuration on HestiaCP – Ultratech Solution"/>
          <p:cNvPicPr/>
          <p:nvPr/>
        </p:nvPicPr>
        <p:blipFill>
          <a:blip r:embed="rId6"/>
          <a:stretch/>
        </p:blipFill>
        <p:spPr>
          <a:xfrm>
            <a:off x="7028280" y="4887360"/>
            <a:ext cx="709560" cy="59868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6" name="Picture 10" descr="MQTT - Bindings | openHAB"/>
          <p:cNvPicPr/>
          <p:nvPr/>
        </p:nvPicPr>
        <p:blipFill>
          <a:blip r:embed="rId7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  <p:pic>
        <p:nvPicPr>
          <p:cNvPr id="127" name="Picture 10" descr="MQTT - Bindings | openHAB"/>
          <p:cNvPicPr/>
          <p:nvPr/>
        </p:nvPicPr>
        <p:blipFill>
          <a:blip r:embed="rId7"/>
          <a:stretch/>
        </p:blipFill>
        <p:spPr>
          <a:xfrm>
            <a:off x="4800960" y="5344200"/>
            <a:ext cx="818280" cy="73980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pic>
        <p:nvPicPr>
          <p:cNvPr id="128" name="Picture 8" descr="Device - Free computer icons"/>
          <p:cNvPicPr/>
          <p:nvPr/>
        </p:nvPicPr>
        <p:blipFill>
          <a:blip r:embed="rId8"/>
          <a:stretch/>
        </p:blipFill>
        <p:spPr>
          <a:xfrm flipH="1">
            <a:off x="2726640" y="5169600"/>
            <a:ext cx="954720" cy="960840"/>
          </a:xfrm>
          <a:prstGeom prst="rect">
            <a:avLst/>
          </a:prstGeom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</p:pic>
      <p:cxnSp>
        <p:nvCxnSpPr>
          <p:cNvPr id="129" name="Straight Arrow Connector 9"/>
          <p:cNvCxnSpPr>
            <a:stCxn id="122" idx="2"/>
          </p:cNvCxnSpPr>
          <p:nvPr/>
        </p:nvCxnSpPr>
        <p:spPr>
          <a:xfrm>
            <a:off x="5209920" y="3087360"/>
            <a:ext cx="360" cy="79128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0" name="Straight Arrow Connector 18"/>
          <p:cNvCxnSpPr/>
          <p:nvPr/>
        </p:nvCxnSpPr>
        <p:spPr>
          <a:xfrm flipH="1">
            <a:off x="5514840" y="4125960"/>
            <a:ext cx="1577520" cy="3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1" name="Connector: Elbow 17"/>
          <p:cNvCxnSpPr>
            <a:endCxn id="125" idx="1"/>
          </p:cNvCxnSpPr>
          <p:nvPr/>
        </p:nvCxnSpPr>
        <p:spPr>
          <a:xfrm>
            <a:off x="6279840" y="4125960"/>
            <a:ext cx="748800" cy="1060920"/>
          </a:xfrm>
          <a:prstGeom prst="bentConnector3">
            <a:avLst>
              <a:gd name="adj1" fmla="val 48"/>
            </a:avLst>
          </a:prstGeom>
          <a:ln>
            <a:solidFill>
              <a:srgbClr val="ED7D31"/>
            </a:solidFill>
          </a:ln>
        </p:spPr>
      </p:cxnSp>
      <p:cxnSp>
        <p:nvCxnSpPr>
          <p:cNvPr id="132" name="Straight Arrow Connector 22"/>
          <p:cNvCxnSpPr/>
          <p:nvPr/>
        </p:nvCxnSpPr>
        <p:spPr>
          <a:xfrm>
            <a:off x="6279840" y="5186520"/>
            <a:ext cx="880920" cy="360"/>
          </a:xfrm>
          <a:prstGeom prst="straightConnector1">
            <a:avLst/>
          </a:prstGeom>
          <a:ln>
            <a:solidFill>
              <a:srgbClr val="ED7D31"/>
            </a:solidFill>
            <a:tailEnd type="triangle" w="med" len="med"/>
          </a:ln>
        </p:spPr>
      </p:cxnSp>
      <p:cxnSp>
        <p:nvCxnSpPr>
          <p:cNvPr id="133" name="Straight Arrow Connector 29"/>
          <p:cNvCxnSpPr>
            <a:endCxn id="127" idx="0"/>
          </p:cNvCxnSpPr>
          <p:nvPr/>
        </p:nvCxnSpPr>
        <p:spPr>
          <a:xfrm>
            <a:off x="5209920" y="4368600"/>
            <a:ext cx="360" cy="9759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  <p:cxnSp>
        <p:nvCxnSpPr>
          <p:cNvPr id="134" name="Straight Arrow Connector 38"/>
          <p:cNvCxnSpPr/>
          <p:nvPr/>
        </p:nvCxnSpPr>
        <p:spPr>
          <a:xfrm>
            <a:off x="3681360" y="5657760"/>
            <a:ext cx="1310760" cy="360"/>
          </a:xfrm>
          <a:prstGeom prst="straightConnector1">
            <a:avLst/>
          </a:prstGeom>
          <a:ln>
            <a:solidFill>
              <a:srgbClr val="ED7D31"/>
            </a:solidFill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3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" dur="3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" dur="3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3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9"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" dur="3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3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5" dur="3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3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9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" dur="3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3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5" dur="3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3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9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0" dur="3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3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4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409840" y="166320"/>
            <a:ext cx="9495720" cy="960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KORAK DALJE - BACKEND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itle 1"/>
          <p:cNvSpPr/>
          <p:nvPr/>
        </p:nvSpPr>
        <p:spPr>
          <a:xfrm>
            <a:off x="1290960" y="2183040"/>
            <a:ext cx="9791280" cy="461160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komunikacija prvobitno implementirana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Ideje za dalji razvoj i približavanje izgledu realnog sistema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3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3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4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1" name="Picture 10" descr="MQTT - Bindings | openHAB"/>
          <p:cNvPicPr/>
          <p:nvPr/>
        </p:nvPicPr>
        <p:blipFill>
          <a:blip r:embed="rId3"/>
          <a:stretch/>
        </p:blipFill>
        <p:spPr>
          <a:xfrm>
            <a:off x="10582560" y="5410080"/>
            <a:ext cx="1374840" cy="1243080"/>
          </a:xfrm>
          <a:prstGeom prst="rect">
            <a:avLst/>
          </a:prstGeom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495520" y="204480"/>
            <a:ext cx="9410040" cy="9194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000" b="0" strike="noStrike" spc="-1">
                <a:solidFill>
                  <a:srgbClr val="ED7D31"/>
                </a:solidFill>
                <a:latin typeface="Arial Black"/>
              </a:rPr>
              <a:t>BAZA PODATAKA I REDIS</a:t>
            </a:r>
            <a:endParaRPr lang="sr-Latn-RS" sz="5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Title 1"/>
          <p:cNvSpPr/>
          <p:nvPr/>
        </p:nvSpPr>
        <p:spPr>
          <a:xfrm>
            <a:off x="1100160" y="2619360"/>
            <a:ext cx="1029600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Entity Framework i MariaDB baza podataka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Redis i njegova uloga u projektu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Statistika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200" b="0" strike="noStrike" spc="-1">
                <a:solidFill>
                  <a:schemeClr val="lt1"/>
                </a:solidFill>
                <a:latin typeface="Arial Black"/>
              </a:rPr>
              <a:t>Resubscribe to all nakon reconnecta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4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4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4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4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6" descr="Database - Free seo and web icons"/>
          <p:cNvPicPr/>
          <p:nvPr/>
        </p:nvPicPr>
        <p:blipFill>
          <a:blip r:embed="rId3"/>
          <a:stretch/>
        </p:blipFill>
        <p:spPr>
          <a:xfrm>
            <a:off x="10670760" y="5391000"/>
            <a:ext cx="1262160" cy="12621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257560" y="204480"/>
            <a:ext cx="964800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LOGGING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Title 1"/>
          <p:cNvSpPr/>
          <p:nvPr/>
        </p:nvSpPr>
        <p:spPr>
          <a:xfrm>
            <a:off x="1571760" y="2152800"/>
            <a:ext cx="97912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logging system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Zašto je bitan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logging implementira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3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54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55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56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9" name="Picture 2" descr="Logs - Free files and folders icons"/>
          <p:cNvPicPr/>
          <p:nvPr/>
        </p:nvPicPr>
        <p:blipFill>
          <a:blip r:embed="rId3"/>
          <a:stretch/>
        </p:blipFill>
        <p:spPr>
          <a:xfrm>
            <a:off x="10620360" y="5184360"/>
            <a:ext cx="1468800" cy="14688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itle 1"/>
          <p:cNvSpPr/>
          <p:nvPr/>
        </p:nvSpPr>
        <p:spPr>
          <a:xfrm>
            <a:off x="1462680" y="186264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Docker i njegova uloga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dokerizacija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se podešava dokerizacija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(gde) se sakrivaju osetljivi podaci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2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63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64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65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8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70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71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72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73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6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77" name="Picture 176"/>
          <p:cNvPicPr/>
          <p:nvPr/>
        </p:nvPicPr>
        <p:blipFill>
          <a:blip r:embed="rId4"/>
          <a:stretch/>
        </p:blipFill>
        <p:spPr>
          <a:xfrm>
            <a:off x="2250000" y="1949040"/>
            <a:ext cx="7086600" cy="3994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DOCKERIZATION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7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8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8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8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5" name="Picture 12" descr="Docker - Free brands and logotypes icons"/>
          <p:cNvPicPr/>
          <p:nvPr/>
        </p:nvPicPr>
        <p:blipFill>
          <a:blip r:embed="rId3"/>
          <a:stretch/>
        </p:blipFill>
        <p:spPr>
          <a:xfrm>
            <a:off x="10667160" y="5329440"/>
            <a:ext cx="1238400" cy="1238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86" name="Picture 8"/>
          <p:cNvPicPr/>
          <p:nvPr/>
        </p:nvPicPr>
        <p:blipFill>
          <a:blip r:embed="rId4"/>
          <a:stretch/>
        </p:blipFill>
        <p:spPr>
          <a:xfrm>
            <a:off x="2077200" y="2247480"/>
            <a:ext cx="3281040" cy="40575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187" name="Picture 11"/>
          <p:cNvPicPr/>
          <p:nvPr/>
        </p:nvPicPr>
        <p:blipFill>
          <a:blip r:embed="rId5"/>
          <a:stretch/>
        </p:blipFill>
        <p:spPr>
          <a:xfrm>
            <a:off x="6364440" y="1665000"/>
            <a:ext cx="3441960" cy="413712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JWT AUTHENTICATION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itle 1"/>
          <p:cNvSpPr/>
          <p:nvPr/>
        </p:nvSpPr>
        <p:spPr>
          <a:xfrm>
            <a:off x="161496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JWT i čemu služi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JWT implementiran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uloga korisnika 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Korisničko praćenje topics-a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0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191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92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193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6" name="Picture 2" descr="Jwt Website 3D Icons - Free Download in PNG, glTF"/>
          <p:cNvPicPr/>
          <p:nvPr/>
        </p:nvPicPr>
        <p:blipFill>
          <a:blip r:embed="rId3"/>
          <a:stretch/>
        </p:blipFill>
        <p:spPr>
          <a:xfrm>
            <a:off x="10576800" y="5378040"/>
            <a:ext cx="1433880" cy="143388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438280" y="347760"/>
            <a:ext cx="9466920" cy="128160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t">
            <a:normAutofit fontScale="81153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ŠTA UVODI MOGUĆNOST UPOTREBE NALOGA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Title 1"/>
          <p:cNvSpPr/>
          <p:nvPr/>
        </p:nvSpPr>
        <p:spPr>
          <a:xfrm>
            <a:off x="2167560" y="199584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Praćenje poruka za topic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Filtrirani prikaz topics-a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Podela uloga korisnika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Korisnička podešavanja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Admin funkcionalnosti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0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0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0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5" name="Picture 2" descr="User - Free user icons"/>
          <p:cNvPicPr/>
          <p:nvPr/>
        </p:nvPicPr>
        <p:blipFill>
          <a:blip r:embed="rId3"/>
          <a:stretch/>
        </p:blipFill>
        <p:spPr>
          <a:xfrm>
            <a:off x="10661760" y="5391720"/>
            <a:ext cx="1309320" cy="1256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3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1" dur="300" fill="hold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" dur="300" fill="hold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SIMULATOR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Title 1"/>
          <p:cNvSpPr/>
          <p:nvPr/>
        </p:nvSpPr>
        <p:spPr>
          <a:xfrm>
            <a:off x="1590840" y="1729080"/>
            <a:ext cx="907632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cilj simulatora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Podela uloga projekata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simulator funkcioniše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Zašto je simulator bitan i kako nas približava realnom sistemu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8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09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10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11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4" name="Picture 2" descr="Simulation - Free computer icons"/>
          <p:cNvPicPr/>
          <p:nvPr/>
        </p:nvPicPr>
        <p:blipFill>
          <a:blip r:embed="rId3"/>
          <a:stretch/>
        </p:blipFill>
        <p:spPr>
          <a:xfrm>
            <a:off x="10667160" y="5247360"/>
            <a:ext cx="1324440" cy="132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SIMULATOR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1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1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1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1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2" name="Picture 2" descr="Simulation - Free computer icons"/>
          <p:cNvPicPr/>
          <p:nvPr/>
        </p:nvPicPr>
        <p:blipFill>
          <a:blip r:embed="rId3"/>
          <a:stretch/>
        </p:blipFill>
        <p:spPr>
          <a:xfrm>
            <a:off x="10667160" y="5247360"/>
            <a:ext cx="1324440" cy="13244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  <p:pic>
        <p:nvPicPr>
          <p:cNvPr id="223" name="Picture 222"/>
          <p:cNvPicPr/>
          <p:nvPr/>
        </p:nvPicPr>
        <p:blipFill>
          <a:blip r:embed="rId4"/>
          <a:stretch/>
        </p:blipFill>
        <p:spPr>
          <a:xfrm>
            <a:off x="3200400" y="1846080"/>
            <a:ext cx="5072040" cy="369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2610356" y="75240"/>
            <a:ext cx="9320068" cy="1642769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Autofit/>
          </a:bodyPr>
          <a:lstStyle/>
          <a:p>
            <a:pPr algn="ctr"/>
            <a:r>
              <a:rPr lang="en-US" sz="4800" b="0" strike="noStrike" spc="-1" dirty="0">
                <a:solidFill>
                  <a:srgbClr val="ED7D31"/>
                </a:solidFill>
                <a:latin typeface="Arial Black"/>
              </a:rPr>
              <a:t>ADMINSKO UPRAVLJANJE </a:t>
            </a:r>
            <a:r>
              <a:rPr lang="en-US" sz="4800" spc="-1">
                <a:solidFill>
                  <a:srgbClr val="ED7D31"/>
                </a:solidFill>
                <a:latin typeface="Arial Black"/>
              </a:rPr>
              <a:t>PORUKAMA </a:t>
            </a: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SIMULATORA</a:t>
            </a:r>
            <a:endParaRPr lang="en-US" sz="4800" b="0" strike="noStrike" spc="-1">
              <a:solidFill>
                <a:srgbClr val="ED7D31"/>
              </a:solidFill>
              <a:latin typeface="Arial Black"/>
              <a:ea typeface="Calibri"/>
              <a:cs typeface="Calibri"/>
            </a:endParaRPr>
          </a:p>
        </p:txBody>
      </p:sp>
      <p:sp>
        <p:nvSpPr>
          <p:cNvPr id="225" name="Title 1"/>
          <p:cNvSpPr/>
          <p:nvPr/>
        </p:nvSpPr>
        <p:spPr>
          <a:xfrm>
            <a:off x="1705320" y="1818360"/>
            <a:ext cx="8961480" cy="433872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3651" lnSpcReduction="10000"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Promena načina funkcionisanja simulatora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admin menja vrednost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nas ovo dodatno približava realnom sistemu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Improvements za budućnost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6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27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28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29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2" name="Picture 2" descr="Management - Free user icons"/>
          <p:cNvPicPr/>
          <p:nvPr/>
        </p:nvPicPr>
        <p:blipFill>
          <a:blip r:embed="rId3"/>
          <a:stretch/>
        </p:blipFill>
        <p:spPr>
          <a:xfrm>
            <a:off x="10619280" y="5257800"/>
            <a:ext cx="1429200" cy="14292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3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3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3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2219400" y="204480"/>
            <a:ext cx="9686160" cy="176184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PROJEKAT NAKON PODELE ULOGA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Title 1"/>
          <p:cNvSpPr/>
          <p:nvPr/>
        </p:nvSpPr>
        <p:spPr>
          <a:xfrm>
            <a:off x="1393200" y="2443680"/>
            <a:ext cx="8961480" cy="433872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backend funkcioniše nakon podele uloga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funkcionišu liste topics-a i korisničke pretplate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35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36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37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38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41" name="Picture 4" descr="Backend - Free seo and web icons"/>
          <p:cNvPicPr/>
          <p:nvPr/>
        </p:nvPicPr>
        <p:blipFill>
          <a:blip r:embed="rId3"/>
          <a:stretch/>
        </p:blipFill>
        <p:spPr>
          <a:xfrm>
            <a:off x="10458360" y="5335200"/>
            <a:ext cx="1589400" cy="15894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ALARMI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Title 1"/>
          <p:cNvSpPr/>
          <p:nvPr/>
        </p:nvSpPr>
        <p:spPr>
          <a:xfrm>
            <a:off x="1717200" y="2366280"/>
            <a:ext cx="875736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su alarmi i zašto su značajni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su alarmi implementirani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4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45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46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47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9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0" name="Picture 2" descr="Alarm - Free security icons"/>
          <p:cNvPicPr/>
          <p:nvPr/>
        </p:nvPicPr>
        <p:blipFill>
          <a:blip r:embed="rId3"/>
          <a:stretch/>
        </p:blipFill>
        <p:spPr>
          <a:xfrm>
            <a:off x="10577160" y="5153040"/>
            <a:ext cx="1500120" cy="150012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SIGNALIR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Title 1"/>
          <p:cNvSpPr/>
          <p:nvPr/>
        </p:nvSpPr>
        <p:spPr>
          <a:xfrm>
            <a:off x="234036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SignalIR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Kako je implementiran u projektu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53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54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55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56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9" name="Picture 4" descr="NET monitoring &amp; observability | Dynatrace Hub"/>
          <p:cNvPicPr/>
          <p:nvPr/>
        </p:nvPicPr>
        <p:blipFill>
          <a:blip r:embed="rId3"/>
          <a:stretch/>
        </p:blipFill>
        <p:spPr>
          <a:xfrm>
            <a:off x="10536120" y="5257800"/>
            <a:ext cx="1531800" cy="153180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0" strike="noStrike" spc="-1">
                <a:solidFill>
                  <a:srgbClr val="ED7D31"/>
                </a:solidFill>
                <a:latin typeface="Arial Black"/>
              </a:rPr>
              <a:t>UNIT TESTOVI</a:t>
            </a:r>
            <a:endParaRPr lang="sr-Latn-RS" sz="5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Title 1"/>
          <p:cNvSpPr/>
          <p:nvPr/>
        </p:nvSpPr>
        <p:spPr>
          <a:xfrm>
            <a:off x="1643400" y="236628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su Unit testovi i čemu služe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Šta je Mock i kako se koristi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Primena i značaj AI u testiranju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2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63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64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65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68" name="Picture 2" descr="Unit testing - Free technology icons"/>
          <p:cNvPicPr/>
          <p:nvPr/>
        </p:nvPicPr>
        <p:blipFill>
          <a:blip r:embed="rId3"/>
          <a:stretch/>
        </p:blipFill>
        <p:spPr>
          <a:xfrm>
            <a:off x="10729440" y="5400720"/>
            <a:ext cx="1166760" cy="116676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438280" y="204480"/>
            <a:ext cx="9466920" cy="97632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strike="noStrike" spc="-1">
                <a:solidFill>
                  <a:srgbClr val="ED7D31"/>
                </a:solidFill>
                <a:latin typeface="Arial Black"/>
              </a:rPr>
              <a:t>MOJI UTISCI I ISKUSTVO</a:t>
            </a:r>
            <a:endParaRPr lang="sr-Latn-RS" sz="4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Title 1"/>
          <p:cNvSpPr/>
          <p:nvPr/>
        </p:nvSpPr>
        <p:spPr>
          <a:xfrm>
            <a:off x="2186640" y="2089440"/>
            <a:ext cx="8961480" cy="470484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Proširenje znanja tokom rada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Poteškoće sa kojim sam se sretao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en-US" sz="3600" b="0" strike="noStrike" spc="-1">
                <a:solidFill>
                  <a:schemeClr val="lt1"/>
                </a:solidFill>
                <a:latin typeface="Arial Black"/>
              </a:rPr>
              <a:t>Overall iskustvo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71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72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73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74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7" name="Picture 2" descr="User experience - Free electronics icons"/>
          <p:cNvPicPr/>
          <p:nvPr/>
        </p:nvPicPr>
        <p:blipFill>
          <a:blip r:embed="rId3"/>
          <a:stretch/>
        </p:blipFill>
        <p:spPr>
          <a:xfrm>
            <a:off x="10553760" y="5158080"/>
            <a:ext cx="1495080" cy="149508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" dur="3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" dur="300" fill="hold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300" fill="hold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3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300" fill="hold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300" fill="hold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567080" y="152604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8000" b="0" strike="noStrike" spc="-1">
                <a:solidFill>
                  <a:srgbClr val="ED7D31"/>
                </a:solidFill>
                <a:latin typeface="Arial Black"/>
              </a:rPr>
              <a:t>DISKUSIJA I PITANJA</a:t>
            </a:r>
            <a:endParaRPr lang="sr-Latn-RS" sz="80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79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80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81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82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5" name="Picture 2" descr="Discussion - Free people icons"/>
          <p:cNvPicPr/>
          <p:nvPr/>
        </p:nvPicPr>
        <p:blipFill>
          <a:blip r:embed="rId3"/>
          <a:stretch/>
        </p:blipFill>
        <p:spPr>
          <a:xfrm>
            <a:off x="10624680" y="5319000"/>
            <a:ext cx="1308240" cy="1308240"/>
          </a:xfrm>
          <a:prstGeom prst="rect">
            <a:avLst/>
          </a:prstGeom>
          <a:ln w="0">
            <a:noFill/>
          </a:ln>
          <a:effectLst>
            <a:innerShdw blurRad="1143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580760" y="107856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rotWithShape="0">
              <a:srgbClr val="000000">
                <a:alpha val="40000"/>
              </a:srgbClr>
            </a:outerShdw>
          </a:effectLst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8000" b="0" strike="noStrike" spc="-1">
                <a:solidFill>
                  <a:srgbClr val="ED7D31"/>
                </a:solidFill>
                <a:latin typeface="Arial Black"/>
              </a:rPr>
              <a:t>KRAJ</a:t>
            </a:r>
            <a:endParaRPr lang="sr-Latn-RS" sz="80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87" name="Group 4"/>
          <p:cNvGrpSpPr/>
          <p:nvPr/>
        </p:nvGrpSpPr>
        <p:grpSpPr>
          <a:xfrm>
            <a:off x="-2208240" y="-1380240"/>
            <a:ext cx="5208120" cy="6637680"/>
            <a:chOff x="-2208240" y="-1380240"/>
            <a:chExt cx="5208120" cy="6637680"/>
          </a:xfrm>
        </p:grpSpPr>
        <p:sp>
          <p:nvSpPr>
            <p:cNvPr id="288" name="Rectangle 5"/>
            <p:cNvSpPr/>
            <p:nvPr/>
          </p:nvSpPr>
          <p:spPr>
            <a:xfrm rot="1572000">
              <a:off x="-934560" y="-1207080"/>
              <a:ext cx="2247480" cy="6291720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sr-RS" sz="1800" b="0" strike="noStrike" spc="-1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89" name="Picture 2" descr="INIT Technologies – Fairs PKS"/>
            <p:cNvPicPr/>
            <p:nvPr/>
          </p:nvPicPr>
          <p:blipFill>
            <a:blip r:embed="rId2"/>
            <a:stretch/>
          </p:blipFill>
          <p:spPr>
            <a:xfrm>
              <a:off x="286200" y="156600"/>
              <a:ext cx="2713680" cy="672120"/>
            </a:xfrm>
            <a:prstGeom prst="rect">
              <a:avLst/>
            </a:prstGeom>
            <a:ln w="0">
              <a:noFill/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</p:pic>
      </p:grpSp>
      <p:sp>
        <p:nvSpPr>
          <p:cNvPr id="290" name="Rectangle 7"/>
          <p:cNvSpPr/>
          <p:nvPr/>
        </p:nvSpPr>
        <p:spPr>
          <a:xfrm rot="1572000">
            <a:off x="10809720" y="1901880"/>
            <a:ext cx="2247480" cy="629172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sr-R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AutoShape 2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AutoShape 4"/>
          <p:cNvSpPr/>
          <p:nvPr/>
        </p:nvSpPr>
        <p:spPr>
          <a:xfrm>
            <a:off x="6095880" y="34290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sr-R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itle 1"/>
          <p:cNvSpPr/>
          <p:nvPr/>
        </p:nvSpPr>
        <p:spPr>
          <a:xfrm>
            <a:off x="1719720" y="1861200"/>
            <a:ext cx="9057240" cy="417888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000" b="0" strike="noStrike" spc="-1">
                <a:solidFill>
                  <a:schemeClr val="lt1"/>
                </a:solidFill>
                <a:latin typeface="Arial Black"/>
              </a:rPr>
              <a:t>HVALA NA PAŽNJI!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3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3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335</Words>
  <Application>Microsoft Office PowerPoint</Application>
  <PresentationFormat>Widescreen</PresentationFormat>
  <Paragraphs>86</Paragraphs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RestAPI</vt:lpstr>
      <vt:lpstr>O PROJEKTU</vt:lpstr>
      <vt:lpstr>MQTT PROTOKOL</vt:lpstr>
      <vt:lpstr>IMPLEMENTACIJA MQTT U PROJEKTU</vt:lpstr>
      <vt:lpstr>PROJEKAT OD KOG JE SVE POČELO - ConsoleApp</vt:lpstr>
      <vt:lpstr>PROJEKAT OD KOG JE SVE POČELO - ConsoleApp</vt:lpstr>
      <vt:lpstr>KORAK DALJE - BACKEND</vt:lpstr>
      <vt:lpstr>KORAK DALJE - BACKEND</vt:lpstr>
      <vt:lpstr>BAZA PODATAKA I REDIS</vt:lpstr>
      <vt:lpstr>LOGGING</vt:lpstr>
      <vt:lpstr>DOCKERIZATION</vt:lpstr>
      <vt:lpstr>DOCKERIZATION</vt:lpstr>
      <vt:lpstr>DOCKERIZATION</vt:lpstr>
      <vt:lpstr>JWT AUTHENTICATION</vt:lpstr>
      <vt:lpstr>ŠTA UVODI MOGUĆNOST UPOTREBE NALOGA</vt:lpstr>
      <vt:lpstr>SIMULATOR</vt:lpstr>
      <vt:lpstr>SIMULATOR</vt:lpstr>
      <vt:lpstr>ADMINSKO UPRAVLJANJE PORUKAMA SIMULATORA</vt:lpstr>
      <vt:lpstr>PROJEKAT NAKON PODELE ULOGA</vt:lpstr>
      <vt:lpstr>ALARMI</vt:lpstr>
      <vt:lpstr>SIGNALIR</vt:lpstr>
      <vt:lpstr>UNIT TESTOVI</vt:lpstr>
      <vt:lpstr>MOJI UTISCI I ISKUSTVO</vt:lpstr>
      <vt:lpstr>DISKUSIJA I PITANJA</vt:lpstr>
      <vt:lpstr>KRAJ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RestAPI</dc:title>
  <dc:subject/>
  <dc:creator>Nikola Tasić</dc:creator>
  <dc:description/>
  <cp:lastModifiedBy/>
  <cp:revision>375</cp:revision>
  <dcterms:created xsi:type="dcterms:W3CDTF">2026-10-15T16:45:00Z</dcterms:created>
  <dcterms:modified xsi:type="dcterms:W3CDTF">2026-10-16T06:43:50Z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